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304" r:id="rId5"/>
    <p:sldId id="262" r:id="rId6"/>
    <p:sldId id="305" r:id="rId7"/>
    <p:sldId id="306" r:id="rId8"/>
    <p:sldId id="307" r:id="rId9"/>
    <p:sldId id="308" r:id="rId10"/>
    <p:sldId id="309" r:id="rId11"/>
    <p:sldId id="264" r:id="rId12"/>
    <p:sldId id="315" r:id="rId13"/>
    <p:sldId id="316" r:id="rId14"/>
    <p:sldId id="297" r:id="rId15"/>
    <p:sldId id="318" r:id="rId16"/>
    <p:sldId id="317" r:id="rId17"/>
    <p:sldId id="300" r:id="rId18"/>
    <p:sldId id="320" r:id="rId19"/>
    <p:sldId id="319" r:id="rId20"/>
    <p:sldId id="321" r:id="rId21"/>
    <p:sldId id="301" r:id="rId22"/>
    <p:sldId id="302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6B04"/>
    <a:srgbClr val="FDC402"/>
    <a:srgbClr val="006699"/>
    <a:srgbClr val="1D1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77197" autoAdjust="0"/>
  </p:normalViewPr>
  <p:slideViewPr>
    <p:cSldViewPr snapToGrid="0" snapToObjects="1">
      <p:cViewPr varScale="1">
        <p:scale>
          <a:sx n="60" d="100"/>
          <a:sy n="60" d="100"/>
        </p:scale>
        <p:origin x="1303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111B5-6083-FA45-9C70-B7086A1AA1F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104881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FF1C3-C203-084A-A0F8-370FB9740A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66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07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84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Department of Software Engineering</a:t>
            </a:r>
            <a:endParaRPr lang="en-US" dirty="0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r>
              <a:rPr lang="en-US">
                <a:ea typeface="Calibri" panose="020F0502020204030204" pitchFamily="34" charset="0"/>
                <a:cs typeface="Arial" panose="020B0604020202020204" pitchFamily="34" charset="0"/>
              </a:rPr>
              <a:t>Project Title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8"/>
          <p:cNvCxnSpPr>
            <a:cxnSpLocks/>
          </p:cNvCxnSpPr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702628" y="333400"/>
            <a:ext cx="10058400" cy="702303"/>
          </a:xfrm>
        </p:spPr>
        <p:txBody>
          <a:bodyPr>
            <a:normAutofit/>
          </a:bodyPr>
          <a:lstStyle>
            <a:lvl1pPr marL="0">
              <a:defRPr sz="4000" b="1"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702628" y="1179324"/>
            <a:ext cx="10058400" cy="4868363"/>
          </a:xfrm>
        </p:spPr>
        <p:txBody>
          <a:bodyPr/>
          <a:lstStyle>
            <a:lvl1pPr algn="just">
              <a:defRPr sz="2400"/>
            </a:lvl1pPr>
            <a:lvl2pPr algn="just">
              <a:defRPr sz="2000"/>
            </a:lvl2pPr>
            <a:lvl3pPr algn="just">
              <a:defRPr sz="1800"/>
            </a:lvl3pPr>
            <a:lvl4pPr algn="just"/>
            <a:lvl5pPr algn="just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9715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6657" y="72275"/>
            <a:ext cx="1107049" cy="1107049"/>
          </a:xfrm>
          <a:prstGeom prst="rect">
            <a:avLst/>
          </a:prstGeom>
        </p:spPr>
      </p:pic>
      <p:sp>
        <p:nvSpPr>
          <p:cNvPr id="104859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Department of Software Engineering</a:t>
            </a:r>
            <a:endParaRPr lang="en-US" dirty="0"/>
          </a:p>
        </p:txBody>
      </p:sp>
      <p:sp>
        <p:nvSpPr>
          <p:cNvPr id="104859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latin typeface="+mn-lt"/>
              </a:defRPr>
            </a:lvl1pPr>
          </a:lstStyle>
          <a:p>
            <a:pPr>
              <a:lnSpc>
                <a:spcPct val="107000"/>
              </a:lnSpc>
            </a:pPr>
            <a:r>
              <a:rPr lang="en-US">
                <a:ea typeface="Calibri" panose="020F0502020204030204" pitchFamily="34" charset="0"/>
                <a:cs typeface="Arial" panose="020B0604020202020204" pitchFamily="34" charset="0"/>
              </a:rPr>
              <a:t>Project Title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4860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10"/>
          <p:cNvCxnSpPr>
            <a:cxnSpLocks/>
          </p:cNvCxnSpPr>
          <p:nvPr userDrawn="1"/>
        </p:nvCxnSpPr>
        <p:spPr>
          <a:xfrm>
            <a:off x="806334" y="992340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77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714894" y="-36407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305405"/>
            <a:ext cx="10058400" cy="48737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PK"/>
              <a:t>Department of Software Engineering</a:t>
            </a:r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lnSpc>
                <a:spcPct val="107000"/>
              </a:lnSpc>
            </a:pPr>
            <a:r>
              <a:rPr lang="en-US">
                <a:ea typeface="Calibri" panose="020F0502020204030204" pitchFamily="34" charset="0"/>
                <a:cs typeface="Arial" panose="020B0604020202020204" pitchFamily="34" charset="0"/>
              </a:rPr>
              <a:t>Project Title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mh_domains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mh_architecture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mh_aiflow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>
          <a:xfrm>
            <a:off x="531086" y="3128135"/>
            <a:ext cx="11375154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 smtClean="0">
                <a:latin typeface="Trebuchet MS" panose="020B0603020202020204" pitchFamily="34" charset="0"/>
                <a:ea typeface="Arial" charset="0"/>
                <a:cs typeface="Arial" charset="0"/>
              </a:rPr>
              <a:t>ManageHub</a:t>
            </a:r>
            <a:endParaRPr lang="en-US" sz="2000" dirty="0"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1048591" name="Subtitle 2"/>
          <p:cNvSpPr>
            <a:spLocks noGrp="1"/>
          </p:cNvSpPr>
          <p:nvPr>
            <p:ph type="subTitle" idx="1"/>
          </p:nvPr>
        </p:nvSpPr>
        <p:spPr>
          <a:xfrm>
            <a:off x="4283243" y="4430679"/>
            <a:ext cx="6651688" cy="2029106"/>
          </a:xfrm>
        </p:spPr>
        <p:txBody>
          <a:bodyPr>
            <a:normAutofit/>
          </a:bodyPr>
          <a:lstStyle/>
          <a:p>
            <a:pPr algn="r"/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Muhammad </a:t>
            </a:r>
            <a:r>
              <a:rPr lang="en-US" sz="2200" spc="0" dirty="0" err="1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Nassar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–59849</a:t>
            </a:r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r>
              <a:rPr lang="en-US" sz="2200" spc="0" dirty="0" err="1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Abdullah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 </a:t>
            </a:r>
            <a:r>
              <a:rPr lang="en-US" sz="2200" spc="0" dirty="0" err="1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Khalid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–59873</a:t>
            </a:r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Muhammad Rayan Sarfaraz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–59552</a:t>
            </a:r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104859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83231"/>
            <a:ext cx="6349355" cy="350377"/>
          </a:xfrm>
        </p:spPr>
        <p:txBody>
          <a:bodyPr/>
          <a:lstStyle/>
          <a:p>
            <a:r>
              <a:rPr lang="en-US" sz="1100" dirty="0" err="1" smtClean="0"/>
              <a:t>ManageHub</a:t>
            </a:r>
            <a:endParaRPr lang="en-US" sz="1100" dirty="0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</a:t>
            </a:fld>
            <a:endParaRPr lang="en-US" dirty="0"/>
          </a:p>
        </p:txBody>
      </p:sp>
      <p:pic>
        <p:nvPicPr>
          <p:cNvPr id="209715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82" y="758952"/>
            <a:ext cx="2014596" cy="2014596"/>
          </a:xfrm>
          <a:prstGeom prst="rect">
            <a:avLst/>
          </a:prstGeom>
        </p:spPr>
      </p:pic>
      <p:sp>
        <p:nvSpPr>
          <p:cNvPr id="1048595" name="Subtitle 2"/>
          <p:cNvSpPr txBox="1"/>
          <p:nvPr/>
        </p:nvSpPr>
        <p:spPr>
          <a:xfrm>
            <a:off x="1109799" y="4430680"/>
            <a:ext cx="3530295" cy="110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spc="0" dirty="0" smtClean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SUPERVISOR</a:t>
            </a:r>
          </a:p>
          <a:p>
            <a:pPr algn="ctr"/>
            <a:r>
              <a:rPr lang="en-US" b="1" spc="0" dirty="0" err="1" smtClean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Mr. Shahrukh Riaz</a:t>
            </a:r>
            <a:endParaRPr lang="en-US" b="1" spc="0" dirty="0">
              <a:solidFill>
                <a:srgbClr val="006699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Outline</a:t>
            </a:r>
            <a:endParaRPr lang="en-US" b="1" dirty="0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</a:t>
            </a:fld>
            <a:endParaRPr lang="en-US"/>
          </a:p>
        </p:txBody>
      </p:sp>
      <p:sp>
        <p:nvSpPr>
          <p:cNvPr id="1048603" name="Rectangle 3"/>
          <p:cNvSpPr txBox="1">
            <a:spLocks noChangeArrowheads="1"/>
          </p:cNvSpPr>
          <p:nvPr/>
        </p:nvSpPr>
        <p:spPr>
          <a:xfrm>
            <a:off x="778828" y="1420628"/>
            <a:ext cx="9906000" cy="401674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Introduction 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 Problem Statement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 Objectives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Literature Review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Methodology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Results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Project Workload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Gantt Chart</a:t>
            </a:r>
          </a:p>
        </p:txBody>
      </p:sp>
      <p:sp>
        <p:nvSpPr>
          <p:cNvPr id="1048604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83232"/>
            <a:ext cx="6214273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3</a:t>
            </a:fld>
            <a:endParaRPr lang="en-US"/>
          </a:p>
        </p:txBody>
      </p:sp>
      <p:sp>
        <p:nvSpPr>
          <p:cNvPr id="1048609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grpSp>
        <p:nvGrpSpPr>
          <p:cNvPr id="8" name="Group 7"/>
          <p:cNvGrpSpPr/>
          <p:nvPr/>
        </p:nvGrpSpPr>
        <p:grpSpPr>
          <a:xfrm>
            <a:off x="702628" y="1145950"/>
            <a:ext cx="8054510" cy="1756992"/>
            <a:chOff x="702628" y="1145950"/>
            <a:chExt cx="8054510" cy="1756992"/>
          </a:xfrm>
        </p:grpSpPr>
        <p:sp>
          <p:nvSpPr>
            <p:cNvPr id="3" name="TextBox 2"/>
            <p:cNvSpPr txBox="1"/>
            <p:nvPr/>
          </p:nvSpPr>
          <p:spPr>
            <a:xfrm>
              <a:off x="702628" y="1145950"/>
              <a:ext cx="3339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/>
                <a:t>The Problem:</a:t>
              </a:r>
              <a:endParaRPr lang="en-US" sz="28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2628" y="1702613"/>
              <a:ext cx="805451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 smtClean="0">
                  <a:latin typeface="Arial" panose="020B0604020202020204" pitchFamily="34" charset="0"/>
                </a:rPr>
                <a:t>Small shops still </a:t>
              </a:r>
              <a:r>
                <a:rPr lang="en-US" altLang="en-US" sz="2400" dirty="0">
                  <a:latin typeface="Arial" panose="020B0604020202020204" pitchFamily="34" charset="0"/>
                </a:rPr>
                <a:t>run on notebooks, memory, and guesswork 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Arial" panose="020B0604020202020204" pitchFamily="34" charset="0"/>
                </a:rPr>
                <a:t>Stock, sales, and staff records are scattered, not in one place 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Arial" panose="020B0604020202020204" pitchFamily="34" charset="0"/>
                </a:rPr>
                <a:t>Existing software is costly and stops working without internet 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91310" y="3023349"/>
            <a:ext cx="11636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Our Solution: </a:t>
            </a:r>
            <a:r>
              <a:rPr lang="en-US" sz="2800" dirty="0"/>
              <a:t>One simple system for a shop's daily </a:t>
            </a:r>
            <a:r>
              <a:rPr lang="en-US" sz="2800" dirty="0" smtClean="0"/>
              <a:t>work: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84808" y="3593624"/>
            <a:ext cx="11102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All-in-one dashboard</a:t>
            </a:r>
            <a:r>
              <a:rPr lang="en-US" sz="2400" dirty="0"/>
              <a:t> - products, billing, staff, and suppliers in one place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Works without internet</a:t>
            </a:r>
            <a:r>
              <a:rPr lang="en-US" sz="2400" dirty="0"/>
              <a:t> - a desktop app keeps billing running, then syncs later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Talks in plain language</a:t>
            </a:r>
            <a:r>
              <a:rPr lang="en-US" sz="2400" dirty="0"/>
              <a:t> - an AI assistant answers questions and helps </a:t>
            </a:r>
            <a:r>
              <a:rPr lang="en-US" sz="2400" dirty="0" smtClean="0"/>
              <a:t>with billing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Safe for every shop</a:t>
            </a:r>
            <a:r>
              <a:rPr lang="en-US" sz="2400" dirty="0"/>
              <a:t> - each shop's data stays private and separate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808" y="5231241"/>
            <a:ext cx="11636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Impact:</a:t>
            </a:r>
            <a:r>
              <a:rPr lang="en-US" sz="2800" dirty="0"/>
              <a:t> Any shop owner can run their business from a browser - no installation, no IT staff needed</a:t>
            </a:r>
            <a:endParaRPr 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4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702628" y="1300369"/>
            <a:ext cx="6472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Critical Gaps in Current Shop Management: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628" y="1793693"/>
            <a:ext cx="10411099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Everything Scattered, Nothing </a:t>
            </a:r>
            <a:r>
              <a:rPr lang="en-US" sz="2400" b="1" dirty="0" smtClean="0"/>
              <a:t>Connected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Stock, sales, customers and suppliers live in separate notebooks or </a:t>
            </a:r>
            <a:r>
              <a:rPr lang="en-US" sz="2400" dirty="0" smtClean="0"/>
              <a:t>spreadsheets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single view of what is really happening in the shop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Manual Work, </a:t>
            </a:r>
            <a:r>
              <a:rPr lang="en-US" sz="2400" b="1" dirty="0" smtClean="0"/>
              <a:t>Frequent Mistakes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Stock runs out with no warning until the shelf is </a:t>
            </a:r>
            <a:r>
              <a:rPr lang="en-US" sz="2400" dirty="0" smtClean="0"/>
              <a:t>empty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Cash totals and handovers are slow and easy to get </a:t>
            </a:r>
            <a:r>
              <a:rPr lang="en-US" sz="2400" dirty="0" smtClean="0"/>
              <a:t>wrong</a:t>
            </a:r>
          </a:p>
        </p:txBody>
      </p:sp>
    </p:spTree>
    <p:extLst>
      <p:ext uri="{BB962C8B-B14F-4D97-AF65-F5344CB8AC3E}">
        <p14:creationId xmlns:p14="http://schemas.microsoft.com/office/powerpoint/2010/main" val="279920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5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702628" y="1294252"/>
            <a:ext cx="6472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Critical Gaps in Current Shop Management: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628" y="1811764"/>
            <a:ext cx="10411099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 smtClean="0"/>
              <a:t>Existing </a:t>
            </a:r>
            <a:r>
              <a:rPr lang="en-US" sz="2400" b="1" dirty="0"/>
              <a:t>Software Doesn't </a:t>
            </a:r>
            <a:r>
              <a:rPr lang="en-US" sz="2400" b="1" dirty="0" smtClean="0"/>
              <a:t>Fit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Ready-made ERP or POS tools are too costly or too complex to set </a:t>
            </a:r>
            <a:r>
              <a:rPr lang="en-US" sz="2400" dirty="0" smtClean="0"/>
              <a:t>up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Not built for Urdu, local pricing, or how small shops really </a:t>
            </a:r>
            <a:r>
              <a:rPr lang="en-US" sz="2400" dirty="0" smtClean="0"/>
              <a:t>work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No Internet, No Business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Most systems assume the internet never </a:t>
            </a:r>
            <a:r>
              <a:rPr lang="en-US" sz="2400" dirty="0" smtClean="0"/>
              <a:t>drops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lost connection at the till can stop sales </a:t>
            </a:r>
            <a:r>
              <a:rPr lang="en-US" sz="2400" dirty="0" smtClean="0"/>
              <a:t>completely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Missing: </a:t>
            </a:r>
            <a:r>
              <a:rPr lang="en-US" sz="2400" b="1" dirty="0"/>
              <a:t>a plain-language assistant that answers questions and helps with billing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6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620434" y="1294252"/>
            <a:ext cx="11359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Primary Goal:</a:t>
            </a:r>
            <a:r>
              <a:rPr lang="en-US" sz="2400" dirty="0"/>
              <a:t> Build one web-based, cloud-hosted system that brings inventory, sales, customers, suppliers, staff, and finance together for small shops - with an offline mode and a plain-language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434" y="2669017"/>
            <a:ext cx="104110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Multi-Tenant Web Platform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Let many shops run on one platform, each with fully private </a:t>
            </a:r>
            <a:r>
              <a:rPr lang="en-US" sz="2400" dirty="0" smtClean="0"/>
              <a:t>data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Open and use in any regular browser - nothing to install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Complete Retail Operations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Track </a:t>
            </a:r>
            <a:r>
              <a:rPr lang="en-US" sz="2400" dirty="0" smtClean="0"/>
              <a:t>inventory, low-stock alerts, and purchase </a:t>
            </a:r>
            <a:r>
              <a:rPr lang="en-US" sz="2400" dirty="0"/>
              <a:t>orders</a:t>
            </a:r>
            <a:endParaRPr lang="en-US" sz="24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Run point-of-sale billing that updates stock </a:t>
            </a:r>
            <a:r>
              <a:rPr lang="en-US" sz="2400" dirty="0" smtClean="0"/>
              <a:t>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434" y="2145797"/>
            <a:ext cx="393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Specific Objectives:</a:t>
            </a:r>
          </a:p>
        </p:txBody>
      </p:sp>
    </p:spTree>
    <p:extLst>
      <p:ext uri="{BB962C8B-B14F-4D97-AF65-F5344CB8AC3E}">
        <p14:creationId xmlns:p14="http://schemas.microsoft.com/office/powerpoint/2010/main" val="388281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7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 dirty="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578294" y="1189815"/>
            <a:ext cx="104110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Role-Based Access Control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Give owners, managers, and cashiers access to only what they need</a:t>
            </a:r>
            <a:endParaRPr lang="en-US" sz="24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Keep sensitive actions restricted to the right roles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Offline-First Desktop App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Keep billing and stock updates working even without internet</a:t>
            </a:r>
            <a:endParaRPr lang="en-US" sz="24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Auto-sync everything back to the cloud once reconnected</a:t>
            </a:r>
            <a:r>
              <a:rPr lang="en-US" sz="2400" dirty="0" smtClean="0"/>
              <a:t/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Agentic AI </a:t>
            </a:r>
            <a:r>
              <a:rPr lang="en-US" sz="2400" b="1" dirty="0" smtClean="0"/>
              <a:t>Assistant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Answer questions and help with billing in plain English or </a:t>
            </a:r>
            <a:r>
              <a:rPr lang="en-US" sz="2400" dirty="0" smtClean="0"/>
              <a:t>Urdu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Always ask a human to confirm actions that touch money or </a:t>
            </a:r>
            <a:r>
              <a:rPr lang="en-US" sz="2400" dirty="0" smtClean="0"/>
              <a:t>stock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55492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8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620434" y="1294252"/>
            <a:ext cx="11359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Research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434" y="1745553"/>
            <a:ext cx="104110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Manual &amp; Paper-Based Records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notebook, calculator, or spreadsheet - free, but does not scale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automatic stock tracking or low-stock </a:t>
            </a:r>
            <a:r>
              <a:rPr lang="en-US" sz="2400" dirty="0" smtClean="0"/>
              <a:t>alerts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Reports and totals have to be built by hand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b="1" dirty="0"/>
              <a:t>Off-the-Shelf ERP &amp; POS Systems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Odoo, ERPNext, Square, QuickBooks - built for large, global markets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Powerful, but need a developer to set up and </a:t>
            </a:r>
            <a:r>
              <a:rPr lang="en-US" sz="2400" dirty="0" smtClean="0"/>
              <a:t>localise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Not built for Urdu, cash-first sales, or Pakistan's pricing needs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16885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9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702628" y="1159926"/>
            <a:ext cx="104110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Cloud &amp; SaaS Delivery Models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monthly subscription means no server for the shop to maintain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Shared infrastructure keeps the cost low for each shop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Server-rendered pages stay simple and consistent on old hardware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b="1" dirty="0"/>
              <a:t>AI in Retail &amp; Offline-First Design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Machine learning is often used to forecast demand and suggest reorders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Agentic assistants pair a large language model with specialised tools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Offline-first apps write locally, then sync a queue once back online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4165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10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83231"/>
            <a:ext cx="644079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599886" y="1159926"/>
            <a:ext cx="104110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Common Design Patterns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Keyword matching first, then a language model for unclear requests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shared router hands each request to a specialised agent</a:t>
            </a:r>
            <a:r>
              <a:rPr lang="en-US" sz="2400" dirty="0" smtClean="0"/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886" y="2948912"/>
            <a:ext cx="11359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Research gaps + Our Contributions</a:t>
            </a:r>
            <a:endParaRPr lang="en-US" sz="28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74155"/>
              </p:ext>
            </p:extLst>
          </p:nvPr>
        </p:nvGraphicFramePr>
        <p:xfrm>
          <a:off x="1352700" y="3650300"/>
          <a:ext cx="9639441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147">
                  <a:extLst>
                    <a:ext uri="{9D8B030D-6E8A-4147-A177-3AD203B41FA5}">
                      <a16:colId xmlns:a16="http://schemas.microsoft.com/office/drawing/2014/main" val="1136771321"/>
                    </a:ext>
                  </a:extLst>
                </a:gridCol>
                <a:gridCol w="3213147">
                  <a:extLst>
                    <a:ext uri="{9D8B030D-6E8A-4147-A177-3AD203B41FA5}">
                      <a16:colId xmlns:a16="http://schemas.microsoft.com/office/drawing/2014/main" val="1107480962"/>
                    </a:ext>
                  </a:extLst>
                </a:gridCol>
                <a:gridCol w="3213147">
                  <a:extLst>
                    <a:ext uri="{9D8B030D-6E8A-4147-A177-3AD203B41FA5}">
                      <a16:colId xmlns:a16="http://schemas.microsoft.com/office/drawing/2014/main" val="3760128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Gap Area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Current State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Limitations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Offline Support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Rare in affordable systems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Most fail the moment internet drops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048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Local Language &amp; Pricing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Rarely</a:t>
                      </a:r>
                      <a:r>
                        <a:rPr lang="en-US" sz="2000" baseline="0" dirty="0" smtClean="0"/>
                        <a:t> a first-class feature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Not built for Urdu or local tax norms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8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Conversational AI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Found mainly in big enterprise tools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Too</a:t>
                      </a:r>
                      <a:r>
                        <a:rPr lang="en-US" sz="2000" baseline="0" dirty="0" smtClean="0"/>
                        <a:t> costly for a small shop's budget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11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AI on Money/Stock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 human-confirmation step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Risky, fully-automated decisions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5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Access Model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Web OR installed, not both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Forces owners into one trade-off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40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922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73110" y="333400"/>
            <a:ext cx="10058400" cy="7023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Literature Review</a:t>
            </a:r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11</a:t>
            </a:fld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0754" y="6445037"/>
            <a:ext cx="63219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67136" y="1155357"/>
            <a:ext cx="8787829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Our </a:t>
            </a:r>
            <a:r>
              <a:rPr lang="en-US" sz="2800" b="1" dirty="0" smtClean="0"/>
              <a:t>Contributions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✓ </a:t>
            </a:r>
            <a:r>
              <a:rPr lang="en-US" sz="2400" b="1" dirty="0"/>
              <a:t>Multi-Tenant SaaS</a:t>
            </a:r>
            <a:r>
              <a:rPr lang="en-US" sz="2400" dirty="0"/>
              <a:t>: one platform, many shops, fully separate data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Truly Offline-First</a:t>
            </a:r>
            <a:r>
              <a:rPr lang="en-US" sz="2400" dirty="0"/>
              <a:t>: desktop app with local storage and auto-sync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Role-Based Access</a:t>
            </a:r>
            <a:r>
              <a:rPr lang="en-US" sz="2400" dirty="0"/>
              <a:t>: owners, managers, and cashiers see only their tools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Human-in-the-Loop AI</a:t>
            </a:r>
            <a:r>
              <a:rPr lang="en-US" sz="2400" dirty="0"/>
              <a:t>: 7 agents, but money and stock always need approval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Web-First, Zero Install</a:t>
            </a:r>
            <a:r>
              <a:rPr lang="en-US" sz="2400" dirty="0"/>
              <a:t>: runs in any browser, updates instantly for every shop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Built for Local Shops</a:t>
            </a:r>
            <a:r>
              <a:rPr lang="en-US" sz="2400" dirty="0"/>
              <a:t>: Urdu support and Pakistan-specific pricing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73110" y="333400"/>
            <a:ext cx="10058400" cy="70230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Methodology</a:t>
            </a:r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12</a:t>
            </a:fld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0754" y="6445037"/>
            <a:ext cx="63219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873110" y="1221939"/>
            <a:ext cx="1167618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Development Approach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Built module by module: products and billing first, then HR, offline sync, and AI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Each module tested before moving to the next 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Code organised into routes, controllers, views, and helpers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Technology Stack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Backend: Node.js, Express, and MySQL (SQLite for offline mode)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Frontend: server-rendered EJS templates and Chart.js dashboards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AI service: FastAPI, LangChain, and Groq's Llama 3.3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Desktop: Electron, plus Stripe for subscription billing</a:t>
            </a:r>
          </a:p>
        </p:txBody>
      </p:sp>
    </p:spTree>
    <p:extLst>
      <p:ext uri="{BB962C8B-B14F-4D97-AF65-F5344CB8AC3E}">
        <p14:creationId xmlns:p14="http://schemas.microsoft.com/office/powerpoint/2010/main" val="1757662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73110" y="333400"/>
            <a:ext cx="10058400" cy="70230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Methodology</a:t>
            </a:r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13</a:t>
            </a:fld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0754" y="6445037"/>
            <a:ext cx="63219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38555" y="1205025"/>
            <a:ext cx="6400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Database Design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Multi-tenant model: every table carries a shop_id, so data never crosses shops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Keys are UUIDs, not auto-increments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Lets records made offline merge in later without ID clashes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Four functional domains, shown in Figure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Confidence in data integrity: one shop's mistake can't affect another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The Four Domains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System management: shops, users, roles, subscriptions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&amp; inventory, HR &amp; payroll, and raw materials</a:t>
            </a:r>
          </a:p>
        </p:txBody>
      </p:sp>
      <p:pic>
        <p:nvPicPr>
          <p:cNvPr id="10" name="Figure 2 - Domai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000" y="1750000"/>
            <a:ext cx="4300000" cy="341800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</p:pic>
      <p:sp>
        <p:nvSpPr>
          <p:cNvPr id="11" name="Caption"/>
          <p:cNvSpPr txBox="1"/>
          <p:nvPr/>
        </p:nvSpPr>
        <p:spPr>
          <a:xfrm>
            <a:off x="7450000" y="5250000"/>
            <a:ext cx="4300000" cy="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Figure 1: The Four Functional Domains of the ManageHub Database</a:t>
            </a:r>
          </a:p>
        </p:txBody>
      </p:sp>
    </p:spTree>
    <p:extLst>
      <p:ext uri="{BB962C8B-B14F-4D97-AF65-F5344CB8AC3E}">
        <p14:creationId xmlns:p14="http://schemas.microsoft.com/office/powerpoint/2010/main" val="41413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14</a:t>
            </a:fld>
            <a:endParaRPr lang="en-US"/>
          </a:p>
        </p:txBody>
      </p:sp>
      <p:sp>
        <p:nvSpPr>
          <p:cNvPr id="1048788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9821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638185" y="1233662"/>
            <a:ext cx="1057429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Customer-Facing Modules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Inventory &amp; Products - SKUs, stock levels, low-stock alerts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Point-of-Sale Billing - scan, discount, auto-updates stock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Customers (CRM) - purchase history and credit limits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Suppliers - purchase orders and running balances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Back-Office Modules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Employees &amp; Payroll - salaries, loans, and activity logs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Reports &amp; Dashboards - charts, PDF and Excel export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Roles, Feedback &amp; Subscription Billing via Stripe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15</a:t>
            </a:fld>
            <a:endParaRPr lang="en-US"/>
          </a:p>
        </p:txBody>
      </p:sp>
      <p:sp>
        <p:nvSpPr>
          <p:cNvPr id="1048788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9821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250" y="1750000"/>
            <a:ext cx="5787500" cy="46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5477" y="1233662"/>
            <a:ext cx="475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System Architecture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44745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16</a:t>
            </a:fld>
            <a:endParaRPr lang="en-US"/>
          </a:p>
        </p:txBody>
      </p:sp>
      <p:sp>
        <p:nvSpPr>
          <p:cNvPr id="1048788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9821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250" y="1550000"/>
            <a:ext cx="6469500" cy="475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0307" y="1233662"/>
            <a:ext cx="24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Agentic AI Request Flow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7943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17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02628" y="1823096"/>
            <a:ext cx="44203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Raw </a:t>
            </a:r>
            <a:r>
              <a:rPr lang="en-US" sz="2400" b="1" dirty="0"/>
              <a:t>detections:</a:t>
            </a:r>
            <a:r>
              <a:rPr lang="en-US" sz="2400" dirty="0"/>
              <a:t> 61</a:t>
            </a:r>
            <a:br>
              <a:rPr lang="en-US" sz="2400" dirty="0"/>
            </a:br>
            <a:r>
              <a:rPr lang="en-US" sz="2400" b="1" dirty="0"/>
              <a:t>Recent events (30 min):</a:t>
            </a:r>
            <a:r>
              <a:rPr lang="en-US" sz="2400" dirty="0"/>
              <a:t> 19</a:t>
            </a:r>
            <a:br>
              <a:rPr lang="en-US" sz="2400" dirty="0"/>
            </a:br>
            <a:r>
              <a:rPr lang="en-US" sz="2400" b="1" dirty="0"/>
              <a:t>Consensus-validated events:</a:t>
            </a:r>
            <a:r>
              <a:rPr lang="en-US" sz="2400" dirty="0"/>
              <a:t> 8</a:t>
            </a:r>
            <a:br>
              <a:rPr lang="en-US" sz="2400" dirty="0"/>
            </a:br>
            <a:r>
              <a:rPr lang="en-US" sz="2400" b="1" dirty="0"/>
              <a:t>False positives filtered:</a:t>
            </a:r>
            <a:r>
              <a:rPr lang="en-US" sz="2400" dirty="0"/>
              <a:t> </a:t>
            </a:r>
            <a:r>
              <a:rPr lang="en-US" sz="2400" b="1" dirty="0"/>
              <a:t>86.9</a:t>
            </a:r>
            <a:r>
              <a:rPr lang="en-US" sz="2400" b="1" dirty="0" smtClean="0"/>
              <a:t>%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02628" y="1253236"/>
            <a:ext cx="4103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Quality Filtering</a:t>
            </a:r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702628" y="4880104"/>
            <a:ext cx="8792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Aggressive </a:t>
            </a:r>
            <a:r>
              <a:rPr lang="en-US" sz="2400" i="1" dirty="0"/>
              <a:t>filtering ensures only high-confidence events persist</a:t>
            </a:r>
            <a:r>
              <a:rPr lang="en-US" sz="2400" i="1" dirty="0" smtClean="0"/>
              <a:t>.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136113" y="1253236"/>
            <a:ext cx="4420357" cy="3432182"/>
            <a:chOff x="702628" y="1253236"/>
            <a:chExt cx="4420357" cy="3432182"/>
          </a:xfrm>
        </p:grpSpPr>
        <p:sp>
          <p:nvSpPr>
            <p:cNvPr id="10" name="Rectangle 9"/>
            <p:cNvSpPr/>
            <p:nvPr/>
          </p:nvSpPr>
          <p:spPr>
            <a:xfrm>
              <a:off x="702628" y="1823096"/>
              <a:ext cx="4420357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Average initial confidence:</a:t>
              </a:r>
              <a:r>
                <a:rPr lang="en-US" sz="2400" dirty="0"/>
                <a:t> 87.4%</a:t>
              </a:r>
              <a:br>
                <a:rPr lang="en-US" sz="2400" dirty="0"/>
              </a:br>
              <a:r>
                <a:rPr lang="en-US" sz="2400" b="1" dirty="0"/>
                <a:t>Post-consensus confidence:</a:t>
              </a:r>
              <a:r>
                <a:rPr lang="en-US" sz="2400" dirty="0"/>
                <a:t> </a:t>
              </a:r>
              <a:r>
                <a:rPr lang="en-US" sz="2400" b="1" dirty="0"/>
                <a:t>100%</a:t>
              </a:r>
              <a:r>
                <a:rPr lang="en-US" sz="2400" dirty="0"/>
                <a:t/>
              </a:r>
              <a:br>
                <a:rPr lang="en-US" sz="2400" dirty="0"/>
              </a:br>
              <a:r>
                <a:rPr lang="en-US" sz="2400" b="1" dirty="0"/>
                <a:t>Event </a:t>
              </a:r>
              <a:r>
                <a:rPr lang="en-US" sz="2400" b="1" dirty="0" smtClean="0"/>
                <a:t>distribution:</a:t>
              </a:r>
              <a:endParaRPr lang="en-US" sz="2400" dirty="0" smtClean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smtClean="0"/>
                <a:t>Potholes </a:t>
              </a:r>
              <a:r>
                <a:rPr lang="en-US" sz="2400" dirty="0"/>
                <a:t>— 62.5</a:t>
              </a:r>
              <a:r>
                <a:rPr lang="en-US" sz="2400" dirty="0" smtClean="0"/>
                <a:t>%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smtClean="0"/>
                <a:t>Speed bumps </a:t>
              </a:r>
              <a:r>
                <a:rPr lang="en-US" sz="2400" dirty="0"/>
                <a:t>—</a:t>
              </a:r>
              <a:r>
                <a:rPr lang="en-US" sz="2400" dirty="0" smtClean="0"/>
                <a:t> 37.5%</a:t>
              </a:r>
              <a:endParaRPr lang="en-US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2628" y="1253236"/>
              <a:ext cx="41030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Detection Accuracy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702628" y="5390535"/>
            <a:ext cx="76424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All </a:t>
            </a:r>
            <a:r>
              <a:rPr lang="en-US" sz="2400" dirty="0"/>
              <a:t>validated events confirmed by ≥2 independent devices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18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02628" y="1823096"/>
            <a:ext cx="4420357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GPS updates:</a:t>
            </a:r>
            <a:r>
              <a:rPr lang="en-US" sz="2400" dirty="0"/>
              <a:t> 100 </a:t>
            </a:r>
            <a:r>
              <a:rPr lang="en-US" sz="2400" dirty="0" err="1"/>
              <a:t>ms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Backend response:</a:t>
            </a:r>
            <a:r>
              <a:rPr lang="en-US" sz="2400" dirty="0"/>
              <a:t> &lt; 1 s</a:t>
            </a:r>
            <a:br>
              <a:rPr lang="en-US" sz="2400" dirty="0"/>
            </a:br>
            <a:r>
              <a:rPr lang="en-US" sz="2400" b="1" dirty="0"/>
              <a:t>Auto-refresh cycle:</a:t>
            </a:r>
            <a:r>
              <a:rPr lang="en-US" sz="2400" dirty="0"/>
              <a:t> 30 s</a:t>
            </a:r>
            <a:br>
              <a:rPr lang="en-US" sz="2400" dirty="0"/>
            </a:br>
            <a:r>
              <a:rPr lang="en-US" sz="2400" b="1" dirty="0"/>
              <a:t>Platforms tested:</a:t>
            </a:r>
            <a:r>
              <a:rPr lang="en-US" sz="2400" dirty="0"/>
              <a:t> Android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628" y="1253236"/>
            <a:ext cx="5112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Real-Time System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628" y="4120801"/>
            <a:ext cx="5386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Real-world deployment</a:t>
            </a:r>
            <a:r>
              <a:rPr lang="en-US" sz="2400" b="1"/>
              <a:t>:</a:t>
            </a:r>
            <a:r>
              <a:rPr lang="en-US" sz="2400"/>
              <a:t> </a:t>
            </a:r>
            <a:r>
              <a:rPr lang="en-US" sz="2400" smtClean="0"/>
              <a:t>Quetta, </a:t>
            </a:r>
            <a:r>
              <a:rPr lang="en-US" sz="2400" dirty="0"/>
              <a:t>Pakistan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628" y="4841523"/>
            <a:ext cx="2173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Key Outcome</a:t>
            </a:r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691283" y="5411550"/>
            <a:ext cx="102467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Reliable, real-time, crowd-validated road hazard detection using mobile sensors</a:t>
            </a:r>
          </a:p>
        </p:txBody>
      </p:sp>
    </p:spTree>
    <p:extLst>
      <p:ext uri="{BB962C8B-B14F-4D97-AF65-F5344CB8AC3E}">
        <p14:creationId xmlns:p14="http://schemas.microsoft.com/office/powerpoint/2010/main" val="1043341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19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02628" y="1420142"/>
            <a:ext cx="2157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System in </a:t>
            </a:r>
            <a:endParaRPr lang="en-US" sz="2400" b="1" dirty="0" smtClean="0"/>
          </a:p>
          <a:p>
            <a:r>
              <a:rPr lang="en-US" sz="2400" b="1" dirty="0" smtClean="0"/>
              <a:t>Operation</a:t>
            </a:r>
            <a:endParaRPr lang="en-US" sz="2400" b="1" dirty="0"/>
          </a:p>
        </p:txBody>
      </p:sp>
      <p:grpSp>
        <p:nvGrpSpPr>
          <p:cNvPr id="11" name="Group 10"/>
          <p:cNvGrpSpPr/>
          <p:nvPr/>
        </p:nvGrpSpPr>
        <p:grpSpPr>
          <a:xfrm>
            <a:off x="2731476" y="1074215"/>
            <a:ext cx="8373407" cy="5173952"/>
            <a:chOff x="3473836" y="1254671"/>
            <a:chExt cx="7384863" cy="4868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86" b="5641"/>
            <a:stretch/>
          </p:blipFill>
          <p:spPr>
            <a:xfrm>
              <a:off x="3473836" y="1371967"/>
              <a:ext cx="2387112" cy="475155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73" b="5128"/>
            <a:stretch/>
          </p:blipFill>
          <p:spPr>
            <a:xfrm>
              <a:off x="5967124" y="1358349"/>
              <a:ext cx="2360087" cy="475155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86" b="5129"/>
            <a:stretch/>
          </p:blipFill>
          <p:spPr>
            <a:xfrm>
              <a:off x="8433387" y="1254671"/>
              <a:ext cx="2425312" cy="4855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515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Project Workload</a:t>
            </a:r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20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367919" y="1216242"/>
            <a:ext cx="5141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Abdul Ahad — Core System &amp;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919" y="2100648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System </a:t>
            </a:r>
            <a:r>
              <a:rPr lang="en-US" sz="2400" dirty="0">
                <a:ea typeface="Times New Roman" panose="02020603050405020304" pitchFamily="18" charset="0"/>
              </a:rPr>
              <a:t>architecture &amp; service-layer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Sensor </a:t>
            </a:r>
            <a:r>
              <a:rPr lang="en-US" sz="2400" dirty="0">
                <a:ea typeface="Times New Roman" panose="02020603050405020304" pitchFamily="18" charset="0"/>
              </a:rPr>
              <a:t>data processing (accelerometer, gyroscope)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Road </a:t>
            </a:r>
            <a:r>
              <a:rPr lang="en-US" sz="2400" dirty="0">
                <a:ea typeface="Times New Roman" panose="02020603050405020304" pitchFamily="18" charset="0"/>
              </a:rPr>
              <a:t>anomaly detection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Consensus </a:t>
            </a:r>
            <a:r>
              <a:rPr lang="en-US" sz="2400" dirty="0">
                <a:ea typeface="Times New Roman" panose="02020603050405020304" pitchFamily="18" charset="0"/>
              </a:rPr>
              <a:t>validation &amp; noise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GPS </a:t>
            </a:r>
            <a:r>
              <a:rPr lang="en-US" sz="2400" dirty="0">
                <a:ea typeface="Times New Roman" panose="02020603050405020304" pitchFamily="18" charset="0"/>
              </a:rPr>
              <a:t>tracking and real-time location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Backend </a:t>
            </a:r>
            <a:r>
              <a:rPr lang="en-US" sz="2400" dirty="0">
                <a:ea typeface="Times New Roman" panose="02020603050405020304" pitchFamily="18" charset="0"/>
              </a:rPr>
              <a:t>integration (event upload &amp; sync)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Performance </a:t>
            </a:r>
            <a:r>
              <a:rPr lang="en-US" sz="2400" dirty="0">
                <a:ea typeface="Times New Roman" panose="02020603050405020304" pitchFamily="18" charset="0"/>
              </a:rPr>
              <a:t>optimization &amp; result </a:t>
            </a:r>
            <a:r>
              <a:rPr lang="en-US" sz="2400" dirty="0" smtClean="0">
                <a:ea typeface="Times New Roman" panose="02020603050405020304" pitchFamily="18" charset="0"/>
              </a:rPr>
              <a:t>analysis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7919" y="5226828"/>
            <a:ext cx="5596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Focus</a:t>
            </a:r>
            <a:r>
              <a:rPr lang="en-US" sz="2400" i="1" dirty="0"/>
              <a:t>: core logic, data reliability, system </a:t>
            </a:r>
            <a:r>
              <a:rPr lang="en-US" sz="2400" i="1" dirty="0" smtClean="0"/>
              <a:t>performance</a:t>
            </a:r>
            <a:endParaRPr lang="en-US" sz="2400" i="1" dirty="0"/>
          </a:p>
        </p:txBody>
      </p:sp>
      <p:sp>
        <p:nvSpPr>
          <p:cNvPr id="7" name="Rectangle 6"/>
          <p:cNvSpPr/>
          <p:nvPr/>
        </p:nvSpPr>
        <p:spPr>
          <a:xfrm>
            <a:off x="6319284" y="1194066"/>
            <a:ext cx="54975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Umer</a:t>
            </a:r>
            <a:r>
              <a:rPr lang="en-US" sz="2400" b="1" dirty="0"/>
              <a:t> Bin </a:t>
            </a:r>
            <a:r>
              <a:rPr lang="en-US" sz="2400" b="1" dirty="0" err="1"/>
              <a:t>Ibrar</a:t>
            </a:r>
            <a:r>
              <a:rPr lang="en-US" sz="2400" b="1" dirty="0"/>
              <a:t> — UI, Maps &amp; User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209827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Flutter UI development &amp; screen flows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Google Maps integration &amp; visualization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Hazard markers &amp; pollution overlays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Navigation interface &amp; user alerts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Cross-platform consistency (Android &amp; iOS)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UI/UX improvements and usability </a:t>
            </a:r>
            <a:r>
              <a:rPr lang="en-US" sz="2400" dirty="0" smtClean="0">
                <a:ea typeface="Times New Roman" panose="02020603050405020304" pitchFamily="18" charset="0"/>
              </a:rPr>
              <a:t>testing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1947" y="5229087"/>
            <a:ext cx="57900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Focus</a:t>
            </a:r>
            <a:r>
              <a:rPr lang="en-US" sz="2400" i="1" dirty="0"/>
              <a:t>: user experience, visualization, interaction </a:t>
            </a:r>
            <a:r>
              <a:rPr lang="en-US" sz="2400" i="1" dirty="0" smtClean="0"/>
              <a:t>design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776229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sp>
        <p:nvSpPr>
          <p:cNvPr id="10488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21</a:t>
            </a:fld>
            <a:endParaRPr lang="en-US"/>
          </a:p>
        </p:txBody>
      </p:sp>
      <p:sp>
        <p:nvSpPr>
          <p:cNvPr id="1048806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417935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5"/>
          <a:stretch/>
        </p:blipFill>
        <p:spPr>
          <a:xfrm>
            <a:off x="1019907" y="1085868"/>
            <a:ext cx="10058400" cy="51859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0488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22</a:t>
            </a:fld>
            <a:endParaRPr lang="en-US"/>
          </a:p>
        </p:txBody>
      </p:sp>
      <p:sp>
        <p:nvSpPr>
          <p:cNvPr id="104881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337925" cy="350377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410966" y="1459629"/>
            <a:ext cx="110960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[1] </a:t>
            </a:r>
            <a:r>
              <a:rPr lang="en-US" sz="2400" dirty="0"/>
              <a:t>M. </a:t>
            </a:r>
            <a:r>
              <a:rPr lang="en-US" sz="2400" dirty="0" err="1"/>
              <a:t>Zareei</a:t>
            </a:r>
            <a:r>
              <a:rPr lang="en-US" sz="2400" dirty="0"/>
              <a:t> et al., "Machine Learning Model for Road Anomaly Detection Using Smartphone Accelerometer Data," </a:t>
            </a:r>
            <a:r>
              <a:rPr lang="en-US" sz="2400" i="1" dirty="0"/>
              <a:t>IEEE Access</a:t>
            </a:r>
            <a:r>
              <a:rPr lang="en-US" sz="2400" dirty="0"/>
              <a:t>, 2025. (98% accuracy, CNN-based, adaptive </a:t>
            </a:r>
            <a:r>
              <a:rPr lang="en-US" sz="2400" dirty="0" err="1"/>
              <a:t>thresholding</a:t>
            </a:r>
            <a:r>
              <a:rPr lang="en-US" sz="2400" dirty="0"/>
              <a:t>)</a:t>
            </a:r>
          </a:p>
          <a:p>
            <a:r>
              <a:rPr lang="en-US" sz="2400" b="1" dirty="0"/>
              <a:t>[2] </a:t>
            </a:r>
            <a:r>
              <a:rPr lang="en-US" sz="2400" dirty="0"/>
              <a:t>P. Mohan et al., "</a:t>
            </a:r>
            <a:r>
              <a:rPr lang="en-US" sz="2400" dirty="0" err="1"/>
              <a:t>TrafficSense</a:t>
            </a:r>
            <a:r>
              <a:rPr lang="en-US" sz="2400" dirty="0"/>
              <a:t>: Rich monitoring of road and traffic conditions using mobile smartphones," Microsoft Research, 2008. (Foundational work, virtual reorientation)</a:t>
            </a:r>
          </a:p>
          <a:p>
            <a:r>
              <a:rPr lang="en-US" sz="2400" b="1" dirty="0"/>
              <a:t>[3] </a:t>
            </a:r>
            <a:r>
              <a:rPr lang="en-US" sz="2400" dirty="0"/>
              <a:t>F. </a:t>
            </a:r>
            <a:r>
              <a:rPr lang="en-US" sz="2400" dirty="0" err="1"/>
              <a:t>Seraj</a:t>
            </a:r>
            <a:r>
              <a:rPr lang="en-US" sz="2400" dirty="0"/>
              <a:t> et al., "</a:t>
            </a:r>
            <a:r>
              <a:rPr lang="en-US" sz="2400" dirty="0" err="1"/>
              <a:t>RoADS</a:t>
            </a:r>
            <a:r>
              <a:rPr lang="en-US" sz="2400" dirty="0"/>
              <a:t>: A road pavement monitoring system for anomaly detection," </a:t>
            </a:r>
            <a:r>
              <a:rPr lang="en-US" sz="2400" i="1" dirty="0"/>
              <a:t>Big Data Analytics</a:t>
            </a:r>
            <a:r>
              <a:rPr lang="en-US" sz="2400" dirty="0"/>
              <a:t>, 2014. (Envelope demodulation, 90% accuracy)</a:t>
            </a:r>
          </a:p>
          <a:p>
            <a:r>
              <a:rPr lang="en-US" sz="2400" b="1" dirty="0"/>
              <a:t>[4] </a:t>
            </a:r>
            <a:r>
              <a:rPr lang="en-US" sz="2400" dirty="0"/>
              <a:t>A. </a:t>
            </a:r>
            <a:r>
              <a:rPr lang="en-US" sz="2400" dirty="0" err="1"/>
              <a:t>Allouch</a:t>
            </a:r>
            <a:r>
              <a:rPr lang="en-US" sz="2400" dirty="0"/>
              <a:t> et al., "</a:t>
            </a:r>
            <a:r>
              <a:rPr lang="en-US" sz="2400" dirty="0" err="1"/>
              <a:t>ManageHub</a:t>
            </a:r>
            <a:r>
              <a:rPr lang="en-US" sz="2400" dirty="0"/>
              <a:t>: Smartphone application to estimate road conditions," </a:t>
            </a:r>
            <a:r>
              <a:rPr lang="en-US" sz="2400" i="1" dirty="0"/>
              <a:t>IEEE Sensors J.</a:t>
            </a:r>
            <a:r>
              <a:rPr lang="en-US" sz="2400" dirty="0"/>
              <a:t>, 2017. (98.6% accuracy, C4.5 Decision Tree)</a:t>
            </a:r>
          </a:p>
          <a:p>
            <a:r>
              <a:rPr lang="en-US" sz="2400" b="1" dirty="0"/>
              <a:t>[5] </a:t>
            </a:r>
            <a:r>
              <a:rPr lang="en-US" sz="2400" dirty="0"/>
              <a:t>O. </a:t>
            </a:r>
            <a:r>
              <a:rPr lang="en-US" sz="2400" dirty="0" err="1"/>
              <a:t>Mazari</a:t>
            </a:r>
            <a:r>
              <a:rPr lang="en-US" sz="2400" dirty="0"/>
              <a:t> </a:t>
            </a:r>
            <a:r>
              <a:rPr lang="en-US" sz="2400" dirty="0" err="1"/>
              <a:t>Abdessameud</a:t>
            </a:r>
            <a:r>
              <a:rPr lang="en-US" sz="2400" dirty="0"/>
              <a:t> &amp; W. </a:t>
            </a:r>
            <a:r>
              <a:rPr lang="en-US" sz="2400" dirty="0" err="1"/>
              <a:t>Cherifi</a:t>
            </a:r>
            <a:r>
              <a:rPr lang="en-US" sz="2400" dirty="0"/>
              <a:t>, "Federated road surface anomaly detection," </a:t>
            </a:r>
            <a:r>
              <a:rPr lang="en-US" sz="2400" i="1" dirty="0"/>
              <a:t>DATA Conf.</a:t>
            </a:r>
            <a:r>
              <a:rPr lang="en-US" sz="2400" dirty="0"/>
              <a:t>, 2024. (LSTM + federated learning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23</a:t>
            </a:fld>
            <a:endParaRPr lang="en-US"/>
          </a:p>
        </p:txBody>
      </p:sp>
      <p:sp>
        <p:nvSpPr>
          <p:cNvPr id="1048814" name="TextBox 7"/>
          <p:cNvSpPr txBox="1"/>
          <p:nvPr/>
        </p:nvSpPr>
        <p:spPr>
          <a:xfrm>
            <a:off x="2519395" y="2281000"/>
            <a:ext cx="7598044" cy="180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/>
              <a:t>Thank You!</a:t>
            </a:r>
            <a:endParaRPr lang="en-US" sz="2000" dirty="0"/>
          </a:p>
        </p:txBody>
      </p:sp>
      <p:sp>
        <p:nvSpPr>
          <p:cNvPr id="1048815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052175" cy="365125"/>
          </a:xfrm>
        </p:spPr>
        <p:txBody>
          <a:bodyPr/>
          <a:lstStyle/>
          <a:p>
            <a:r>
              <a:rPr lang="en-US" sz="1100" dirty="0" err="1"/>
              <a:t>ManageHub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FDC402"/>
      </a:accent1>
      <a:accent2>
        <a:srgbClr val="1C0054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1259</Words>
  <Application>Microsoft Office PowerPoint</Application>
  <PresentationFormat>Widescreen</PresentationFormat>
  <Paragraphs>262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Trebuchet MS</vt:lpstr>
      <vt:lpstr>Retrospect</vt:lpstr>
      <vt:lpstr>RoadSense</vt:lpstr>
      <vt:lpstr>Outline</vt:lpstr>
      <vt:lpstr>Introduction</vt:lpstr>
      <vt:lpstr>Problem Statement</vt:lpstr>
      <vt:lpstr>Problem Statement</vt:lpstr>
      <vt:lpstr>Objectives</vt:lpstr>
      <vt:lpstr>Objectives</vt:lpstr>
      <vt:lpstr>Literature Review</vt:lpstr>
      <vt:lpstr>Literature Review</vt:lpstr>
      <vt:lpstr>Literature Review</vt:lpstr>
      <vt:lpstr>Literature Review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Results</vt:lpstr>
      <vt:lpstr>Project Workload</vt:lpstr>
      <vt:lpstr>Gantt Chart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Format</dc:title>
  <dc:creator>Bilal Khan</dc:creator>
  <cp:lastModifiedBy>Abdul Ahad</cp:lastModifiedBy>
  <cp:revision>39</cp:revision>
  <dcterms:created xsi:type="dcterms:W3CDTF">2018-10-16T21:21:18Z</dcterms:created>
  <dcterms:modified xsi:type="dcterms:W3CDTF">2025-12-14T18:17:35Z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834ce75541bd414f91cfe8ba23255314</vt:lpwstr>
  </property>
</Properties>
</file>