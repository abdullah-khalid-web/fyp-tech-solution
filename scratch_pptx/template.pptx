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304" r:id="rId5"/>
    <p:sldId id="262" r:id="rId6"/>
    <p:sldId id="305" r:id="rId7"/>
    <p:sldId id="306" r:id="rId8"/>
    <p:sldId id="307" r:id="rId9"/>
    <p:sldId id="308" r:id="rId10"/>
    <p:sldId id="309" r:id="rId11"/>
    <p:sldId id="264" r:id="rId12"/>
    <p:sldId id="315" r:id="rId13"/>
    <p:sldId id="316" r:id="rId14"/>
    <p:sldId id="297" r:id="rId15"/>
    <p:sldId id="318" r:id="rId16"/>
    <p:sldId id="317" r:id="rId17"/>
    <p:sldId id="300" r:id="rId18"/>
    <p:sldId id="320" r:id="rId19"/>
    <p:sldId id="319" r:id="rId20"/>
    <p:sldId id="321" r:id="rId21"/>
    <p:sldId id="301" r:id="rId22"/>
    <p:sldId id="302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6B04"/>
    <a:srgbClr val="FDC402"/>
    <a:srgbClr val="006699"/>
    <a:srgbClr val="1D1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77197" autoAdjust="0"/>
  </p:normalViewPr>
  <p:slideViewPr>
    <p:cSldViewPr snapToGrid="0" snapToObjects="1">
      <p:cViewPr varScale="1">
        <p:scale>
          <a:sx n="60" d="100"/>
          <a:sy n="60" d="100"/>
        </p:scale>
        <p:origin x="1303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111B5-6083-FA45-9C70-B7086A1AA1F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104881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FF1C3-C203-084A-A0F8-370FB9740A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66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07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FF1C3-C203-084A-A0F8-370FB9740A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84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Department of Software Engineering</a:t>
            </a:r>
            <a:endParaRPr lang="en-US" dirty="0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r>
              <a:rPr lang="en-US">
                <a:ea typeface="Calibri" panose="020F0502020204030204" pitchFamily="34" charset="0"/>
                <a:cs typeface="Arial" panose="020B0604020202020204" pitchFamily="34" charset="0"/>
              </a:rPr>
              <a:t>Project Title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8"/>
          <p:cNvCxnSpPr>
            <a:cxnSpLocks/>
          </p:cNvCxnSpPr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702628" y="333400"/>
            <a:ext cx="10058400" cy="702303"/>
          </a:xfrm>
        </p:spPr>
        <p:txBody>
          <a:bodyPr>
            <a:normAutofit/>
          </a:bodyPr>
          <a:lstStyle>
            <a:lvl1pPr marL="0">
              <a:defRPr sz="4000" b="1"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702628" y="1179324"/>
            <a:ext cx="10058400" cy="4868363"/>
          </a:xfrm>
        </p:spPr>
        <p:txBody>
          <a:bodyPr/>
          <a:lstStyle>
            <a:lvl1pPr algn="just">
              <a:defRPr sz="2400"/>
            </a:lvl1pPr>
            <a:lvl2pPr algn="just">
              <a:defRPr sz="2000"/>
            </a:lvl2pPr>
            <a:lvl3pPr algn="just">
              <a:defRPr sz="1800"/>
            </a:lvl3pPr>
            <a:lvl4pPr algn="just"/>
            <a:lvl5pPr algn="just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9715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6657" y="72275"/>
            <a:ext cx="1107049" cy="1107049"/>
          </a:xfrm>
          <a:prstGeom prst="rect">
            <a:avLst/>
          </a:prstGeom>
        </p:spPr>
      </p:pic>
      <p:sp>
        <p:nvSpPr>
          <p:cNvPr id="104859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Department of Software Engineering</a:t>
            </a:r>
            <a:endParaRPr lang="en-US" dirty="0"/>
          </a:p>
        </p:txBody>
      </p:sp>
      <p:sp>
        <p:nvSpPr>
          <p:cNvPr id="104859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latin typeface="+mn-lt"/>
              </a:defRPr>
            </a:lvl1pPr>
          </a:lstStyle>
          <a:p>
            <a:pPr>
              <a:lnSpc>
                <a:spcPct val="107000"/>
              </a:lnSpc>
            </a:pPr>
            <a:r>
              <a:rPr lang="en-US">
                <a:ea typeface="Calibri" panose="020F0502020204030204" pitchFamily="34" charset="0"/>
                <a:cs typeface="Arial" panose="020B0604020202020204" pitchFamily="34" charset="0"/>
              </a:rPr>
              <a:t>Project Title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4860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10"/>
          <p:cNvCxnSpPr>
            <a:cxnSpLocks/>
          </p:cNvCxnSpPr>
          <p:nvPr userDrawn="1"/>
        </p:nvCxnSpPr>
        <p:spPr>
          <a:xfrm>
            <a:off x="806334" y="992340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77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714894" y="-36407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305405"/>
            <a:ext cx="10058400" cy="48737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PK"/>
              <a:t>Department of Software Engineering</a:t>
            </a:r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lnSpc>
                <a:spcPct val="107000"/>
              </a:lnSpc>
            </a:pPr>
            <a:r>
              <a:rPr lang="en-US">
                <a:ea typeface="Calibri" panose="020F0502020204030204" pitchFamily="34" charset="0"/>
                <a:cs typeface="Arial" panose="020B0604020202020204" pitchFamily="34" charset="0"/>
              </a:rPr>
              <a:t>Project Title</a:t>
            </a:r>
            <a:endParaRPr lang="en-US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>
          <a:xfrm>
            <a:off x="531086" y="3128135"/>
            <a:ext cx="11375154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 smtClean="0">
                <a:latin typeface="Trebuchet MS" panose="020B0603020202020204" pitchFamily="34" charset="0"/>
                <a:ea typeface="Arial" charset="0"/>
                <a:cs typeface="Arial" charset="0"/>
              </a:rPr>
              <a:t>RoadSense</a:t>
            </a:r>
            <a:endParaRPr lang="en-US" sz="2000" dirty="0"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1048591" name="Subtitle 2"/>
          <p:cNvSpPr>
            <a:spLocks noGrp="1"/>
          </p:cNvSpPr>
          <p:nvPr>
            <p:ph type="subTitle" idx="1"/>
          </p:nvPr>
        </p:nvSpPr>
        <p:spPr>
          <a:xfrm>
            <a:off x="4283243" y="4430679"/>
            <a:ext cx="6651688" cy="2029106"/>
          </a:xfrm>
        </p:spPr>
        <p:txBody>
          <a:bodyPr>
            <a:normAutofit/>
          </a:bodyPr>
          <a:lstStyle/>
          <a:p>
            <a:pPr algn="r"/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Abdul </a:t>
            </a:r>
            <a:r>
              <a:rPr lang="en-US" sz="2200" spc="0" dirty="0" err="1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ahad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–59882</a:t>
            </a:r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r>
              <a:rPr lang="en-US" sz="2200" spc="0" dirty="0" err="1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umer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 bin </a:t>
            </a:r>
            <a:r>
              <a:rPr lang="en-US" sz="2200" spc="0" dirty="0" err="1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ibrar</a:t>
            </a:r>
            <a:r>
              <a:rPr lang="en-US" sz="2200" spc="0" dirty="0" smtClean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–61072</a:t>
            </a:r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104859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83231"/>
            <a:ext cx="6349355" cy="350377"/>
          </a:xfrm>
        </p:spPr>
        <p:txBody>
          <a:bodyPr/>
          <a:lstStyle/>
          <a:p>
            <a:r>
              <a:rPr lang="en-US" sz="1100" dirty="0" err="1" smtClean="0"/>
              <a:t>RoadSense</a:t>
            </a:r>
            <a:endParaRPr lang="en-US" sz="1100" dirty="0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</a:t>
            </a:fld>
            <a:endParaRPr lang="en-US" dirty="0"/>
          </a:p>
        </p:txBody>
      </p:sp>
      <p:pic>
        <p:nvPicPr>
          <p:cNvPr id="209715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82" y="758952"/>
            <a:ext cx="2014596" cy="2014596"/>
          </a:xfrm>
          <a:prstGeom prst="rect">
            <a:avLst/>
          </a:prstGeom>
        </p:spPr>
      </p:pic>
      <p:sp>
        <p:nvSpPr>
          <p:cNvPr id="1048595" name="Subtitle 2"/>
          <p:cNvSpPr txBox="1"/>
          <p:nvPr/>
        </p:nvSpPr>
        <p:spPr>
          <a:xfrm>
            <a:off x="1109799" y="4430680"/>
            <a:ext cx="3530295" cy="110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spc="0" dirty="0" smtClean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SUPERVISOR</a:t>
            </a:r>
          </a:p>
          <a:p>
            <a:pPr algn="ctr"/>
            <a:r>
              <a:rPr lang="en-US" b="1" spc="0" dirty="0" err="1" smtClean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Arsalan-ul-haq</a:t>
            </a:r>
            <a:endParaRPr lang="en-US" b="1" spc="0" dirty="0">
              <a:solidFill>
                <a:srgbClr val="006699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Outline</a:t>
            </a:r>
            <a:endParaRPr lang="en-US" b="1" dirty="0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</a:t>
            </a:fld>
            <a:endParaRPr lang="en-US"/>
          </a:p>
        </p:txBody>
      </p:sp>
      <p:sp>
        <p:nvSpPr>
          <p:cNvPr id="1048603" name="Rectangle 3"/>
          <p:cNvSpPr txBox="1">
            <a:spLocks noChangeArrowheads="1"/>
          </p:cNvSpPr>
          <p:nvPr/>
        </p:nvSpPr>
        <p:spPr>
          <a:xfrm>
            <a:off x="778828" y="1420628"/>
            <a:ext cx="9906000" cy="401674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Introduction 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 Problem Statement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 Objectives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Literature Review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Methodology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Results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Project Workload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Gantt Chart</a:t>
            </a:r>
          </a:p>
        </p:txBody>
      </p:sp>
      <p:sp>
        <p:nvSpPr>
          <p:cNvPr id="1048604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83232"/>
            <a:ext cx="6214273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3</a:t>
            </a:fld>
            <a:endParaRPr lang="en-US"/>
          </a:p>
        </p:txBody>
      </p:sp>
      <p:sp>
        <p:nvSpPr>
          <p:cNvPr id="1048609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grpSp>
        <p:nvGrpSpPr>
          <p:cNvPr id="8" name="Group 7"/>
          <p:cNvGrpSpPr/>
          <p:nvPr/>
        </p:nvGrpSpPr>
        <p:grpSpPr>
          <a:xfrm>
            <a:off x="702628" y="1145950"/>
            <a:ext cx="8054510" cy="1756992"/>
            <a:chOff x="702628" y="1145950"/>
            <a:chExt cx="8054510" cy="1756992"/>
          </a:xfrm>
        </p:grpSpPr>
        <p:sp>
          <p:nvSpPr>
            <p:cNvPr id="3" name="TextBox 2"/>
            <p:cNvSpPr txBox="1"/>
            <p:nvPr/>
          </p:nvSpPr>
          <p:spPr>
            <a:xfrm>
              <a:off x="702628" y="1145950"/>
              <a:ext cx="3339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/>
                <a:t>The Problem:</a:t>
              </a:r>
              <a:endParaRPr lang="en-US" sz="28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2628" y="1702613"/>
              <a:ext cx="805451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 smtClean="0">
                  <a:latin typeface="Arial" panose="020B0604020202020204" pitchFamily="34" charset="0"/>
                </a:rPr>
                <a:t>1.19 </a:t>
              </a:r>
              <a:r>
                <a:rPr lang="en-US" altLang="en-US" sz="2400" dirty="0">
                  <a:latin typeface="Arial" panose="020B0604020202020204" pitchFamily="34" charset="0"/>
                </a:rPr>
                <a:t>million road deaths annually (WHO, 2021) 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Arial" panose="020B0604020202020204" pitchFamily="34" charset="0"/>
                </a:rPr>
                <a:t>Lack of real-time hazard awareness 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Arial" panose="020B0604020202020204" pitchFamily="34" charset="0"/>
                </a:rPr>
                <a:t>Preventable accidents due to poor road conditions 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91310" y="3023349"/>
            <a:ext cx="11636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Our Solution: </a:t>
            </a:r>
            <a:r>
              <a:rPr lang="en-US" sz="2800" dirty="0"/>
              <a:t>Transform smartphones into intelligent road monitoring </a:t>
            </a:r>
            <a:r>
              <a:rPr lang="en-US" sz="2800" dirty="0" smtClean="0"/>
              <a:t>devices: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84808" y="3593624"/>
            <a:ext cx="11102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Sensor-driven detection</a:t>
            </a:r>
            <a:r>
              <a:rPr lang="en-US" sz="2400" dirty="0"/>
              <a:t> - Accelerometer + Gyroscope for hazard identification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AI-powered prediction</a:t>
            </a:r>
            <a:r>
              <a:rPr lang="en-US" sz="2400" dirty="0"/>
              <a:t> - Hybrid ML model for accident risk assessment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Environmental awareness</a:t>
            </a:r>
            <a:r>
              <a:rPr lang="en-US" sz="2400" dirty="0"/>
              <a:t> - Real-time pollution </a:t>
            </a:r>
            <a:r>
              <a:rPr lang="en-US" sz="2400" dirty="0" smtClean="0"/>
              <a:t>tracking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Community intelligence</a:t>
            </a:r>
            <a:r>
              <a:rPr lang="en-US" sz="2400" dirty="0"/>
              <a:t> - Crowdsourced safety data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808" y="5231241"/>
            <a:ext cx="11636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Impact:</a:t>
            </a:r>
            <a:r>
              <a:rPr lang="en-US" sz="2800" dirty="0"/>
              <a:t> Proactive safety through passive monitoring - no additional hardware required</a:t>
            </a:r>
            <a:endParaRPr 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4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702628" y="1300369"/>
            <a:ext cx="6472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Critical Gaps in Current Road Safety Systems: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628" y="1793693"/>
            <a:ext cx="10411099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Reactive, Not </a:t>
            </a:r>
            <a:r>
              <a:rPr lang="en-US" sz="2400" b="1" dirty="0" smtClean="0"/>
              <a:t>Proactive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Users only aware of hazards </a:t>
            </a:r>
            <a:r>
              <a:rPr lang="en-US" sz="2400" i="1" dirty="0"/>
              <a:t>after</a:t>
            </a:r>
            <a:r>
              <a:rPr lang="en-US" sz="2400" dirty="0"/>
              <a:t> encountering </a:t>
            </a:r>
            <a:r>
              <a:rPr lang="en-US" sz="2400" dirty="0" smtClean="0"/>
              <a:t>them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advance warning system for road anomalies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Fragmented </a:t>
            </a:r>
            <a:r>
              <a:rPr lang="en-US" sz="2400" b="1" dirty="0" smtClean="0"/>
              <a:t>Information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Separate apps for navigation, traffic, </a:t>
            </a:r>
            <a:r>
              <a:rPr lang="en-US" sz="2400" dirty="0" smtClean="0"/>
              <a:t>pollution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unified safety intelligence </a:t>
            </a:r>
            <a:r>
              <a:rPr lang="en-US" sz="2400" dirty="0" smtClean="0"/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279920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5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702628" y="1294252"/>
            <a:ext cx="6472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Critical Gaps in Current Road Safety Systems: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628" y="1811764"/>
            <a:ext cx="10411099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 smtClean="0"/>
              <a:t>Limited </a:t>
            </a:r>
            <a:r>
              <a:rPr lang="en-US" sz="2400" b="1" dirty="0"/>
              <a:t>Hazard </a:t>
            </a:r>
            <a:r>
              <a:rPr lang="en-US" sz="2400" b="1" dirty="0" smtClean="0"/>
              <a:t>Detection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Expensive infrastructure required (sensors, cameras</a:t>
            </a:r>
            <a:r>
              <a:rPr lang="en-US" sz="2400" dirty="0" smtClean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Poor coverage in developing </a:t>
            </a:r>
            <a:r>
              <a:rPr lang="en-US" sz="2400" dirty="0" smtClean="0"/>
              <a:t>regions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No real-time community-based reporting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Accident Prevention </a:t>
            </a:r>
            <a:r>
              <a:rPr lang="en-US" sz="2400" dirty="0" smtClean="0"/>
              <a:t>Gap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Existing systems alert </a:t>
            </a:r>
            <a:r>
              <a:rPr lang="en-US" sz="2400" i="1" dirty="0"/>
              <a:t>during</a:t>
            </a:r>
            <a:r>
              <a:rPr lang="en-US" sz="2400" dirty="0"/>
              <a:t> accidents (airbags, ABS</a:t>
            </a:r>
            <a:r>
              <a:rPr lang="en-US" sz="2400" dirty="0" smtClean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Missing: </a:t>
            </a:r>
            <a:r>
              <a:rPr lang="en-US" sz="2400" b="1" dirty="0"/>
              <a:t>predictive warnings before dangerous situations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6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620434" y="1294252"/>
            <a:ext cx="11359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Primary Goal:</a:t>
            </a:r>
            <a:r>
              <a:rPr lang="en-US" sz="2400" dirty="0"/>
              <a:t> Develop a cross-platform mobile app that enhances road safety through intelligent monitoring and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434" y="2669017"/>
            <a:ext cx="104110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Real-Time Hazard Detection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Detect potholes, bumps, and road damage using smartphone </a:t>
            </a:r>
            <a:r>
              <a:rPr lang="en-US" sz="2400" dirty="0" smtClean="0"/>
              <a:t>sensors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Achieve ≥85% detection accuracy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Accident Risk Prediction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Implement </a:t>
            </a:r>
            <a:r>
              <a:rPr lang="en-US" sz="2400" dirty="0" smtClean="0"/>
              <a:t>machine learning prediction </a:t>
            </a:r>
            <a:r>
              <a:rPr lang="en-US" sz="2400" dirty="0"/>
              <a:t>system</a:t>
            </a:r>
            <a:endParaRPr lang="en-US" sz="24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Alert drivers before dangerous situations </a:t>
            </a:r>
            <a:r>
              <a:rPr lang="en-US" sz="2400" dirty="0" smtClean="0"/>
              <a:t>occur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434" y="2145797"/>
            <a:ext cx="393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Specific Objectives:</a:t>
            </a:r>
          </a:p>
        </p:txBody>
      </p:sp>
    </p:spTree>
    <p:extLst>
      <p:ext uri="{BB962C8B-B14F-4D97-AF65-F5344CB8AC3E}">
        <p14:creationId xmlns:p14="http://schemas.microsoft.com/office/powerpoint/2010/main" val="388281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7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 dirty="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578294" y="1189815"/>
            <a:ext cx="104110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Environmental Awareness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Integrate real-time pollution and air quality data</a:t>
            </a:r>
            <a:endParaRPr lang="en-US" sz="24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Enable health-conscious route planning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Unified Safety Platform</a:t>
            </a:r>
            <a:endParaRPr lang="en-US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Combine navigation, hazard alerts, and environmental monitoring</a:t>
            </a:r>
            <a:endParaRPr lang="en-US" sz="24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Single app solution for comprehensive road </a:t>
            </a:r>
            <a:r>
              <a:rPr lang="en-US" sz="2400" dirty="0" smtClean="0"/>
              <a:t>intelligence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dirty="0"/>
              <a:t>Community-Powered </a:t>
            </a:r>
            <a:r>
              <a:rPr lang="en-US" sz="2400" b="1" dirty="0" smtClean="0"/>
              <a:t>Intelligence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Build crowdsourced hazard </a:t>
            </a:r>
            <a:r>
              <a:rPr lang="en-US" sz="2400" dirty="0" smtClean="0"/>
              <a:t>database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Leverage collective data to improve safety for all </a:t>
            </a:r>
            <a:r>
              <a:rPr lang="en-US" sz="2400" dirty="0" smtClean="0"/>
              <a:t>users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55492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8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620434" y="1294252"/>
            <a:ext cx="11359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Research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434" y="1745553"/>
            <a:ext cx="104110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Sensor-Based Road Monitoring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Accelerometer/gyroscope for vibration analysis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50-100 Hz optimal sampling </a:t>
            </a:r>
            <a:r>
              <a:rPr lang="en-US" sz="2400" dirty="0" smtClean="0"/>
              <a:t>rate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Z-axis primary, tri-axial improves accuracy 10-20%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b="1" dirty="0"/>
              <a:t>Detection Approaches Evolution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Threshold-based: Simple, 74-78% accuracy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Machine Learning: SVM, RF, CNN → 85-98% </a:t>
            </a:r>
            <a:r>
              <a:rPr lang="en-US" sz="2400" dirty="0" smtClean="0"/>
              <a:t>accuracy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Deep Learning: LSTM, </a:t>
            </a:r>
            <a:r>
              <a:rPr lang="en-US" sz="2400" dirty="0" err="1"/>
              <a:t>ETLNet</a:t>
            </a:r>
            <a:r>
              <a:rPr lang="en-US" sz="2400" dirty="0"/>
              <a:t> → 95-99% F1-score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16885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9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702628" y="1159926"/>
            <a:ext cx="104110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Key Methodologies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Signal preprocessing: High-pass filters, envelope demodulation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Feature extraction: Time-domain, wavelet (SWT), spectral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Virtual reorientation: Euler angles for orientation independence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b="1" dirty="0"/>
              <a:t>Datasets &amp; Benchmarks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2400" dirty="0"/>
              <a:t>Pothole Lab Dataset (standard reference)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US-Accidents (2.25M records)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RDD2020 (road damage classification)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4165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10</a:t>
            </a:fld>
            <a:endParaRPr lang="en-US"/>
          </a:p>
        </p:txBody>
      </p:sp>
      <p:sp>
        <p:nvSpPr>
          <p:cNvPr id="104862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83231"/>
            <a:ext cx="644079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599886" y="1159926"/>
            <a:ext cx="104110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Deployment Strategies</a:t>
            </a:r>
            <a:endParaRPr lang="en-US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TensorFlow</a:t>
            </a:r>
            <a:r>
              <a:rPr lang="en-US" sz="2400" dirty="0"/>
              <a:t> Lite for mobile optimization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Model quantization (32-bit → 8-bit</a:t>
            </a:r>
            <a:r>
              <a:rPr lang="en-US" sz="2400" dirty="0" smtClean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886" y="2948912"/>
            <a:ext cx="11359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Research gaps + Our Contributions</a:t>
            </a:r>
            <a:endParaRPr lang="en-US" sz="28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74155"/>
              </p:ext>
            </p:extLst>
          </p:nvPr>
        </p:nvGraphicFramePr>
        <p:xfrm>
          <a:off x="1352700" y="3650300"/>
          <a:ext cx="9639441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147">
                  <a:extLst>
                    <a:ext uri="{9D8B030D-6E8A-4147-A177-3AD203B41FA5}">
                      <a16:colId xmlns:a16="http://schemas.microsoft.com/office/drawing/2014/main" val="1136771321"/>
                    </a:ext>
                  </a:extLst>
                </a:gridCol>
                <a:gridCol w="3213147">
                  <a:extLst>
                    <a:ext uri="{9D8B030D-6E8A-4147-A177-3AD203B41FA5}">
                      <a16:colId xmlns:a16="http://schemas.microsoft.com/office/drawing/2014/main" val="1107480962"/>
                    </a:ext>
                  </a:extLst>
                </a:gridCol>
                <a:gridCol w="3213147">
                  <a:extLst>
                    <a:ext uri="{9D8B030D-6E8A-4147-A177-3AD203B41FA5}">
                      <a16:colId xmlns:a16="http://schemas.microsoft.com/office/drawing/2014/main" val="3760128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Gap Area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Current State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Limitations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Detection Scope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Road surface only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 accident prediction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048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Processing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Cloud</a:t>
                      </a:r>
                      <a:r>
                        <a:rPr lang="en-US" sz="2000" baseline="0" dirty="0" smtClean="0"/>
                        <a:t> or offline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Limited real-time capability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8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Approach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Pure ML or pure rules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Lack</a:t>
                      </a:r>
                      <a:r>
                        <a:rPr lang="en-US" sz="2000" baseline="0" dirty="0" smtClean="0"/>
                        <a:t> of hybrid intelligence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11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Integration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Single-purpose apps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 environmental awareness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5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Platform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Native per OS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Maintenance overhead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40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922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73110" y="333400"/>
            <a:ext cx="10058400" cy="7023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Literature Review</a:t>
            </a:r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11</a:t>
            </a:fld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0754" y="6445037"/>
            <a:ext cx="63219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67136" y="1155357"/>
            <a:ext cx="8787829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Our </a:t>
            </a:r>
            <a:r>
              <a:rPr lang="en-US" sz="2800" b="1" dirty="0" smtClean="0"/>
              <a:t>Contributions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✓ </a:t>
            </a:r>
            <a:r>
              <a:rPr lang="en-US" sz="2400" b="1" dirty="0"/>
              <a:t>Hybrid Architecture</a:t>
            </a:r>
            <a:r>
              <a:rPr lang="en-US" sz="2400" dirty="0"/>
              <a:t>: Rule-based + ML for reliability + adaptability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Real-Time On-Device</a:t>
            </a:r>
            <a:r>
              <a:rPr lang="en-US" sz="2400" dirty="0"/>
              <a:t>: &lt;200ms processing latency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Dual Prediction</a:t>
            </a:r>
            <a:r>
              <a:rPr lang="en-US" sz="2400" dirty="0"/>
              <a:t>: Road anomalies + accident risk assessment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Multi-Sensor Fusion</a:t>
            </a:r>
            <a:r>
              <a:rPr lang="en-US" sz="2400" dirty="0"/>
              <a:t>: Accelerometer + Gyroscope + GPS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Environmental Integration</a:t>
            </a:r>
            <a:r>
              <a:rPr lang="en-US" sz="2400" dirty="0"/>
              <a:t>: Pollution data via Google Maps API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✓ </a:t>
            </a:r>
            <a:r>
              <a:rPr lang="en-US" sz="2400" b="1" dirty="0"/>
              <a:t>Cross-Platform</a:t>
            </a:r>
            <a:r>
              <a:rPr lang="en-US" sz="2400" dirty="0"/>
              <a:t>: Flutter for Android + iOS from single codebase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73110" y="333400"/>
            <a:ext cx="10058400" cy="70230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Methodology</a:t>
            </a:r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12</a:t>
            </a:fld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0754" y="6445037"/>
            <a:ext cx="63219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873110" y="1221939"/>
            <a:ext cx="1167618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Data Acquisition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Smartphone sensors: Accelerometer + Gyroscope (50 Hz)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GPS positioning with timestamp synchronization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Real-time location tracking (100ms update intervals)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Signal Processing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Exponential smoothing filter (</a:t>
            </a:r>
            <a:r>
              <a:rPr lang="el-GR" sz="2400" dirty="0"/>
              <a:t>α=0.3)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Feature extraction: 238-sample window (~4.76s)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Multi-modal trigger: acceleration + rotation variance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Speed-adaptive thresholds (5 tiers: 2-150 km/h)</a:t>
            </a:r>
          </a:p>
        </p:txBody>
      </p:sp>
    </p:spTree>
    <p:extLst>
      <p:ext uri="{BB962C8B-B14F-4D97-AF65-F5344CB8AC3E}">
        <p14:creationId xmlns:p14="http://schemas.microsoft.com/office/powerpoint/2010/main" val="1757662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73110" y="333400"/>
            <a:ext cx="10058400" cy="70230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Methodology</a:t>
            </a:r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13</a:t>
            </a:fld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0754" y="6445037"/>
            <a:ext cx="63219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38555" y="1205025"/>
            <a:ext cx="112072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Classification Algorithm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Weighted scoring system (5 features):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Peak sharpness, gyro variance, vertical dominance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Impact duration, frequency analysis (FFT)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Pothole vs Speed Bump discrimination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Confidence calculation (≥60% minimum threshold)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Pollution Monitoring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Google Air Quality API </a:t>
            </a:r>
            <a:r>
              <a:rPr lang="en-US" sz="2400" dirty="0" smtClean="0"/>
              <a:t>integration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Heat map visualization with concentric zones</a:t>
            </a:r>
          </a:p>
        </p:txBody>
      </p:sp>
    </p:spTree>
    <p:extLst>
      <p:ext uri="{BB962C8B-B14F-4D97-AF65-F5344CB8AC3E}">
        <p14:creationId xmlns:p14="http://schemas.microsoft.com/office/powerpoint/2010/main" val="41413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14</a:t>
            </a:fld>
            <a:endParaRPr lang="en-US"/>
          </a:p>
        </p:txBody>
      </p:sp>
      <p:sp>
        <p:nvSpPr>
          <p:cNvPr id="1048788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9821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638185" y="1233662"/>
            <a:ext cx="1057429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Navigation System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Google Maps Directions API with route alternatives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Turn-by-turn guidance with lane assistance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Off-track detection (30m threshold)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Automatic rerouting (10s </a:t>
            </a:r>
            <a:r>
              <a:rPr lang="en-US" sz="2400" dirty="0" err="1"/>
              <a:t>cooldown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Route Risk Analysis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Hazard proximity detection (50m threshold)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Multi-criteria scoring: hazards + pollution + distance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Safest route recommendation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15</a:t>
            </a:fld>
            <a:endParaRPr lang="en-US"/>
          </a:p>
        </p:txBody>
      </p:sp>
      <p:sp>
        <p:nvSpPr>
          <p:cNvPr id="1048788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9821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" t="5301" r="2828" b="4823"/>
          <a:stretch/>
        </p:blipFill>
        <p:spPr>
          <a:xfrm>
            <a:off x="2414953" y="1165642"/>
            <a:ext cx="9378462" cy="51347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5477" y="1590709"/>
            <a:ext cx="275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System Architecture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44745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16</a:t>
            </a:fld>
            <a:endParaRPr lang="en-US"/>
          </a:p>
        </p:txBody>
      </p:sp>
      <p:sp>
        <p:nvSpPr>
          <p:cNvPr id="1048788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214274" cy="39821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6" t="4248" r="2157" b="4274"/>
          <a:stretch/>
        </p:blipFill>
        <p:spPr>
          <a:xfrm>
            <a:off x="1266092" y="1184030"/>
            <a:ext cx="10843846" cy="51893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0307" y="2602523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Event Detection Flow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7943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17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02628" y="1823096"/>
            <a:ext cx="44203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Raw </a:t>
            </a:r>
            <a:r>
              <a:rPr lang="en-US" sz="2400" b="1" dirty="0"/>
              <a:t>detections:</a:t>
            </a:r>
            <a:r>
              <a:rPr lang="en-US" sz="2400" dirty="0"/>
              <a:t> 61</a:t>
            </a:r>
            <a:br>
              <a:rPr lang="en-US" sz="2400" dirty="0"/>
            </a:br>
            <a:r>
              <a:rPr lang="en-US" sz="2400" b="1" dirty="0"/>
              <a:t>Recent events (30 min):</a:t>
            </a:r>
            <a:r>
              <a:rPr lang="en-US" sz="2400" dirty="0"/>
              <a:t> 19</a:t>
            </a:r>
            <a:br>
              <a:rPr lang="en-US" sz="2400" dirty="0"/>
            </a:br>
            <a:r>
              <a:rPr lang="en-US" sz="2400" b="1" dirty="0"/>
              <a:t>Consensus-validated events:</a:t>
            </a:r>
            <a:r>
              <a:rPr lang="en-US" sz="2400" dirty="0"/>
              <a:t> 8</a:t>
            </a:r>
            <a:br>
              <a:rPr lang="en-US" sz="2400" dirty="0"/>
            </a:br>
            <a:r>
              <a:rPr lang="en-US" sz="2400" b="1" dirty="0"/>
              <a:t>False positives filtered:</a:t>
            </a:r>
            <a:r>
              <a:rPr lang="en-US" sz="2400" dirty="0"/>
              <a:t> </a:t>
            </a:r>
            <a:r>
              <a:rPr lang="en-US" sz="2400" b="1" dirty="0"/>
              <a:t>86.9</a:t>
            </a:r>
            <a:r>
              <a:rPr lang="en-US" sz="2400" b="1" dirty="0" smtClean="0"/>
              <a:t>%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02628" y="1253236"/>
            <a:ext cx="4103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Quality Filtering</a:t>
            </a:r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702628" y="4880104"/>
            <a:ext cx="8792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Aggressive </a:t>
            </a:r>
            <a:r>
              <a:rPr lang="en-US" sz="2400" i="1" dirty="0"/>
              <a:t>filtering ensures only high-confidence events persist</a:t>
            </a:r>
            <a:r>
              <a:rPr lang="en-US" sz="2400" i="1" dirty="0" smtClean="0"/>
              <a:t>.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136113" y="1253236"/>
            <a:ext cx="4420357" cy="3432182"/>
            <a:chOff x="702628" y="1253236"/>
            <a:chExt cx="4420357" cy="3432182"/>
          </a:xfrm>
        </p:grpSpPr>
        <p:sp>
          <p:nvSpPr>
            <p:cNvPr id="10" name="Rectangle 9"/>
            <p:cNvSpPr/>
            <p:nvPr/>
          </p:nvSpPr>
          <p:spPr>
            <a:xfrm>
              <a:off x="702628" y="1823096"/>
              <a:ext cx="4420357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Average initial confidence:</a:t>
              </a:r>
              <a:r>
                <a:rPr lang="en-US" sz="2400" dirty="0"/>
                <a:t> 87.4%</a:t>
              </a:r>
              <a:br>
                <a:rPr lang="en-US" sz="2400" dirty="0"/>
              </a:br>
              <a:r>
                <a:rPr lang="en-US" sz="2400" b="1" dirty="0"/>
                <a:t>Post-consensus confidence:</a:t>
              </a:r>
              <a:r>
                <a:rPr lang="en-US" sz="2400" dirty="0"/>
                <a:t> </a:t>
              </a:r>
              <a:r>
                <a:rPr lang="en-US" sz="2400" b="1" dirty="0"/>
                <a:t>100%</a:t>
              </a:r>
              <a:r>
                <a:rPr lang="en-US" sz="2400" dirty="0"/>
                <a:t/>
              </a:r>
              <a:br>
                <a:rPr lang="en-US" sz="2400" dirty="0"/>
              </a:br>
              <a:r>
                <a:rPr lang="en-US" sz="2400" b="1" dirty="0"/>
                <a:t>Event </a:t>
              </a:r>
              <a:r>
                <a:rPr lang="en-US" sz="2400" b="1" dirty="0" smtClean="0"/>
                <a:t>distribution:</a:t>
              </a:r>
              <a:endParaRPr lang="en-US" sz="2400" dirty="0" smtClean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smtClean="0"/>
                <a:t>Potholes </a:t>
              </a:r>
              <a:r>
                <a:rPr lang="en-US" sz="2400" dirty="0"/>
                <a:t>— 62.5</a:t>
              </a:r>
              <a:r>
                <a:rPr lang="en-US" sz="2400" dirty="0" smtClean="0"/>
                <a:t>%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smtClean="0"/>
                <a:t>Speed bumps </a:t>
              </a:r>
              <a:r>
                <a:rPr lang="en-US" sz="2400" dirty="0"/>
                <a:t>—</a:t>
              </a:r>
              <a:r>
                <a:rPr lang="en-US" sz="2400" dirty="0" smtClean="0"/>
                <a:t> 37.5%</a:t>
              </a:r>
              <a:endParaRPr lang="en-US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2628" y="1253236"/>
              <a:ext cx="41030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Detection Accuracy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702628" y="5390535"/>
            <a:ext cx="76424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All </a:t>
            </a:r>
            <a:r>
              <a:rPr lang="en-US" sz="2400" dirty="0"/>
              <a:t>validated events confirmed by ≥2 independent devices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18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02628" y="1823096"/>
            <a:ext cx="4420357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GPS updates:</a:t>
            </a:r>
            <a:r>
              <a:rPr lang="en-US" sz="2400" dirty="0"/>
              <a:t> 100 </a:t>
            </a:r>
            <a:r>
              <a:rPr lang="en-US" sz="2400" dirty="0" err="1"/>
              <a:t>ms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Backend response:</a:t>
            </a:r>
            <a:r>
              <a:rPr lang="en-US" sz="2400" dirty="0"/>
              <a:t> &lt; 1 s</a:t>
            </a:r>
            <a:br>
              <a:rPr lang="en-US" sz="2400" dirty="0"/>
            </a:br>
            <a:r>
              <a:rPr lang="en-US" sz="2400" b="1" dirty="0"/>
              <a:t>Auto-refresh cycle:</a:t>
            </a:r>
            <a:r>
              <a:rPr lang="en-US" sz="2400" dirty="0"/>
              <a:t> 30 s</a:t>
            </a:r>
            <a:br>
              <a:rPr lang="en-US" sz="2400" dirty="0"/>
            </a:br>
            <a:r>
              <a:rPr lang="en-US" sz="2400" b="1" dirty="0"/>
              <a:t>Platforms tested:</a:t>
            </a:r>
            <a:r>
              <a:rPr lang="en-US" sz="2400" dirty="0"/>
              <a:t> Android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2628" y="1253236"/>
            <a:ext cx="5112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Real-Time System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628" y="4120801"/>
            <a:ext cx="5386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Real-world deployment</a:t>
            </a:r>
            <a:r>
              <a:rPr lang="en-US" sz="2400" b="1"/>
              <a:t>:</a:t>
            </a:r>
            <a:r>
              <a:rPr lang="en-US" sz="2400"/>
              <a:t> </a:t>
            </a:r>
            <a:r>
              <a:rPr lang="en-US" sz="2400" smtClean="0"/>
              <a:t>Quetta, </a:t>
            </a:r>
            <a:r>
              <a:rPr lang="en-US" sz="2400" dirty="0"/>
              <a:t>Pakistan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628" y="4841523"/>
            <a:ext cx="2173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Key Outcome</a:t>
            </a:r>
            <a:endParaRPr lang="en-US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691283" y="5411550"/>
            <a:ext cx="102467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Reliable, real-time, crowd-validated road hazard detection using mobile sensors</a:t>
            </a:r>
          </a:p>
        </p:txBody>
      </p:sp>
    </p:spTree>
    <p:extLst>
      <p:ext uri="{BB962C8B-B14F-4D97-AF65-F5344CB8AC3E}">
        <p14:creationId xmlns:p14="http://schemas.microsoft.com/office/powerpoint/2010/main" val="1043341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19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702628" y="1420142"/>
            <a:ext cx="2157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System in </a:t>
            </a:r>
            <a:endParaRPr lang="en-US" sz="2400" b="1" dirty="0" smtClean="0"/>
          </a:p>
          <a:p>
            <a:r>
              <a:rPr lang="en-US" sz="2400" b="1" dirty="0" smtClean="0"/>
              <a:t>Operation</a:t>
            </a:r>
            <a:endParaRPr lang="en-US" sz="2400" b="1" dirty="0"/>
          </a:p>
        </p:txBody>
      </p:sp>
      <p:grpSp>
        <p:nvGrpSpPr>
          <p:cNvPr id="11" name="Group 10"/>
          <p:cNvGrpSpPr/>
          <p:nvPr/>
        </p:nvGrpSpPr>
        <p:grpSpPr>
          <a:xfrm>
            <a:off x="2731476" y="1074215"/>
            <a:ext cx="8373407" cy="5173952"/>
            <a:chOff x="3473836" y="1254671"/>
            <a:chExt cx="7384863" cy="4868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86" b="5641"/>
            <a:stretch/>
          </p:blipFill>
          <p:spPr>
            <a:xfrm>
              <a:off x="3473836" y="1371967"/>
              <a:ext cx="2387112" cy="475155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73" b="5128"/>
            <a:stretch/>
          </p:blipFill>
          <p:spPr>
            <a:xfrm>
              <a:off x="5967124" y="1358349"/>
              <a:ext cx="2360087" cy="475155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86" b="5129"/>
            <a:stretch/>
          </p:blipFill>
          <p:spPr>
            <a:xfrm>
              <a:off x="8433387" y="1254671"/>
              <a:ext cx="2425312" cy="4855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515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Project Workload</a:t>
            </a:r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20</a:t>
            </a:fld>
            <a:endParaRPr lang="en-US"/>
          </a:p>
        </p:txBody>
      </p:sp>
      <p:sp>
        <p:nvSpPr>
          <p:cNvPr id="1048802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6109326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367919" y="1216242"/>
            <a:ext cx="5141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Abdul Ahad — Core System &amp;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919" y="2100648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System </a:t>
            </a:r>
            <a:r>
              <a:rPr lang="en-US" sz="2400" dirty="0">
                <a:ea typeface="Times New Roman" panose="02020603050405020304" pitchFamily="18" charset="0"/>
              </a:rPr>
              <a:t>architecture &amp; service-layer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Sensor </a:t>
            </a:r>
            <a:r>
              <a:rPr lang="en-US" sz="2400" dirty="0">
                <a:ea typeface="Times New Roman" panose="02020603050405020304" pitchFamily="18" charset="0"/>
              </a:rPr>
              <a:t>data processing (accelerometer, gyroscope)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Road </a:t>
            </a:r>
            <a:r>
              <a:rPr lang="en-US" sz="2400" dirty="0">
                <a:ea typeface="Times New Roman" panose="02020603050405020304" pitchFamily="18" charset="0"/>
              </a:rPr>
              <a:t>anomaly detection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Consensus </a:t>
            </a:r>
            <a:r>
              <a:rPr lang="en-US" sz="2400" dirty="0">
                <a:ea typeface="Times New Roman" panose="02020603050405020304" pitchFamily="18" charset="0"/>
              </a:rPr>
              <a:t>validation &amp; noise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GPS </a:t>
            </a:r>
            <a:r>
              <a:rPr lang="en-US" sz="2400" dirty="0">
                <a:ea typeface="Times New Roman" panose="02020603050405020304" pitchFamily="18" charset="0"/>
              </a:rPr>
              <a:t>tracking and real-time location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Backend </a:t>
            </a:r>
            <a:r>
              <a:rPr lang="en-US" sz="2400" dirty="0">
                <a:ea typeface="Times New Roman" panose="02020603050405020304" pitchFamily="18" charset="0"/>
              </a:rPr>
              <a:t>integration (event upload &amp; sync)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a typeface="Times New Roman" panose="02020603050405020304" pitchFamily="18" charset="0"/>
              </a:rPr>
              <a:t>Performance </a:t>
            </a:r>
            <a:r>
              <a:rPr lang="en-US" sz="2400" dirty="0">
                <a:ea typeface="Times New Roman" panose="02020603050405020304" pitchFamily="18" charset="0"/>
              </a:rPr>
              <a:t>optimization &amp; result </a:t>
            </a:r>
            <a:r>
              <a:rPr lang="en-US" sz="2400" dirty="0" smtClean="0">
                <a:ea typeface="Times New Roman" panose="02020603050405020304" pitchFamily="18" charset="0"/>
              </a:rPr>
              <a:t>analysis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7919" y="5226828"/>
            <a:ext cx="5596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Focus</a:t>
            </a:r>
            <a:r>
              <a:rPr lang="en-US" sz="2400" i="1" dirty="0"/>
              <a:t>: core logic, data reliability, system </a:t>
            </a:r>
            <a:r>
              <a:rPr lang="en-US" sz="2400" i="1" dirty="0" smtClean="0"/>
              <a:t>performance</a:t>
            </a:r>
            <a:endParaRPr lang="en-US" sz="2400" i="1" dirty="0"/>
          </a:p>
        </p:txBody>
      </p:sp>
      <p:sp>
        <p:nvSpPr>
          <p:cNvPr id="7" name="Rectangle 6"/>
          <p:cNvSpPr/>
          <p:nvPr/>
        </p:nvSpPr>
        <p:spPr>
          <a:xfrm>
            <a:off x="6319284" y="1194066"/>
            <a:ext cx="54975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Umer</a:t>
            </a:r>
            <a:r>
              <a:rPr lang="en-US" sz="2400" b="1" dirty="0"/>
              <a:t> Bin </a:t>
            </a:r>
            <a:r>
              <a:rPr lang="en-US" sz="2400" b="1" dirty="0" err="1"/>
              <a:t>Ibrar</a:t>
            </a:r>
            <a:r>
              <a:rPr lang="en-US" sz="2400" b="1" dirty="0"/>
              <a:t> — UI, Maps &amp; User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209827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Flutter UI development &amp; screen flows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Google Maps integration &amp; visualization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Hazard markers &amp; pollution overlays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Navigation interface &amp; user alerts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Cross-platform consistency (Android &amp; iOS)</a:t>
            </a:r>
          </a:p>
          <a:p>
            <a:pPr marL="514350" marR="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UI/UX improvements and usability </a:t>
            </a:r>
            <a:r>
              <a:rPr lang="en-US" sz="2400" dirty="0" smtClean="0">
                <a:ea typeface="Times New Roman" panose="02020603050405020304" pitchFamily="18" charset="0"/>
              </a:rPr>
              <a:t>testing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1947" y="5229087"/>
            <a:ext cx="57900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Focus</a:t>
            </a:r>
            <a:r>
              <a:rPr lang="en-US" sz="2400" i="1" dirty="0"/>
              <a:t>: user experience, visualization, interaction </a:t>
            </a:r>
            <a:r>
              <a:rPr lang="en-US" sz="2400" i="1" dirty="0" smtClean="0"/>
              <a:t>design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776229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sp>
        <p:nvSpPr>
          <p:cNvPr id="10488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21</a:t>
            </a:fld>
            <a:endParaRPr lang="en-US"/>
          </a:p>
        </p:txBody>
      </p:sp>
      <p:sp>
        <p:nvSpPr>
          <p:cNvPr id="1048806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0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417935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5"/>
          <a:stretch/>
        </p:blipFill>
        <p:spPr>
          <a:xfrm>
            <a:off x="1019907" y="1085868"/>
            <a:ext cx="10058400" cy="51859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0488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22</a:t>
            </a:fld>
            <a:endParaRPr lang="en-US"/>
          </a:p>
        </p:txBody>
      </p:sp>
      <p:sp>
        <p:nvSpPr>
          <p:cNvPr id="1048811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337925" cy="350377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  <p:sp>
        <p:nvSpPr>
          <p:cNvPr id="2" name="Rectangle 1"/>
          <p:cNvSpPr/>
          <p:nvPr/>
        </p:nvSpPr>
        <p:spPr>
          <a:xfrm>
            <a:off x="410966" y="1459629"/>
            <a:ext cx="110960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[1] </a:t>
            </a:r>
            <a:r>
              <a:rPr lang="en-US" sz="2400" dirty="0"/>
              <a:t>M. </a:t>
            </a:r>
            <a:r>
              <a:rPr lang="en-US" sz="2400" dirty="0" err="1"/>
              <a:t>Zareei</a:t>
            </a:r>
            <a:r>
              <a:rPr lang="en-US" sz="2400" dirty="0"/>
              <a:t> et al., "Machine Learning Model for Road Anomaly Detection Using Smartphone Accelerometer Data," </a:t>
            </a:r>
            <a:r>
              <a:rPr lang="en-US" sz="2400" i="1" dirty="0"/>
              <a:t>IEEE Access</a:t>
            </a:r>
            <a:r>
              <a:rPr lang="en-US" sz="2400" dirty="0"/>
              <a:t>, 2025. (98% accuracy, CNN-based, adaptive </a:t>
            </a:r>
            <a:r>
              <a:rPr lang="en-US" sz="2400" dirty="0" err="1"/>
              <a:t>thresholding</a:t>
            </a:r>
            <a:r>
              <a:rPr lang="en-US" sz="2400" dirty="0"/>
              <a:t>)</a:t>
            </a:r>
          </a:p>
          <a:p>
            <a:r>
              <a:rPr lang="en-US" sz="2400" b="1" dirty="0"/>
              <a:t>[2] </a:t>
            </a:r>
            <a:r>
              <a:rPr lang="en-US" sz="2400" dirty="0"/>
              <a:t>P. Mohan et al., "</a:t>
            </a:r>
            <a:r>
              <a:rPr lang="en-US" sz="2400" dirty="0" err="1"/>
              <a:t>TrafficSense</a:t>
            </a:r>
            <a:r>
              <a:rPr lang="en-US" sz="2400" dirty="0"/>
              <a:t>: Rich monitoring of road and traffic conditions using mobile smartphones," Microsoft Research, 2008. (Foundational work, virtual reorientation)</a:t>
            </a:r>
          </a:p>
          <a:p>
            <a:r>
              <a:rPr lang="en-US" sz="2400" b="1" dirty="0"/>
              <a:t>[3] </a:t>
            </a:r>
            <a:r>
              <a:rPr lang="en-US" sz="2400" dirty="0"/>
              <a:t>F. </a:t>
            </a:r>
            <a:r>
              <a:rPr lang="en-US" sz="2400" dirty="0" err="1"/>
              <a:t>Seraj</a:t>
            </a:r>
            <a:r>
              <a:rPr lang="en-US" sz="2400" dirty="0"/>
              <a:t> et al., "</a:t>
            </a:r>
            <a:r>
              <a:rPr lang="en-US" sz="2400" dirty="0" err="1"/>
              <a:t>RoADS</a:t>
            </a:r>
            <a:r>
              <a:rPr lang="en-US" sz="2400" dirty="0"/>
              <a:t>: A road pavement monitoring system for anomaly detection," </a:t>
            </a:r>
            <a:r>
              <a:rPr lang="en-US" sz="2400" i="1" dirty="0"/>
              <a:t>Big Data Analytics</a:t>
            </a:r>
            <a:r>
              <a:rPr lang="en-US" sz="2400" dirty="0"/>
              <a:t>, 2014. (Envelope demodulation, 90% accuracy)</a:t>
            </a:r>
          </a:p>
          <a:p>
            <a:r>
              <a:rPr lang="en-US" sz="2400" b="1" dirty="0"/>
              <a:t>[4] </a:t>
            </a:r>
            <a:r>
              <a:rPr lang="en-US" sz="2400" dirty="0"/>
              <a:t>A. </a:t>
            </a:r>
            <a:r>
              <a:rPr lang="en-US" sz="2400" dirty="0" err="1"/>
              <a:t>Allouch</a:t>
            </a:r>
            <a:r>
              <a:rPr lang="en-US" sz="2400" dirty="0"/>
              <a:t> et al., "</a:t>
            </a:r>
            <a:r>
              <a:rPr lang="en-US" sz="2400" dirty="0" err="1"/>
              <a:t>RoadSense</a:t>
            </a:r>
            <a:r>
              <a:rPr lang="en-US" sz="2400" dirty="0"/>
              <a:t>: Smartphone application to estimate road conditions," </a:t>
            </a:r>
            <a:r>
              <a:rPr lang="en-US" sz="2400" i="1" dirty="0"/>
              <a:t>IEEE Sensors J.</a:t>
            </a:r>
            <a:r>
              <a:rPr lang="en-US" sz="2400" dirty="0"/>
              <a:t>, 2017. (98.6% accuracy, C4.5 Decision Tree)</a:t>
            </a:r>
          </a:p>
          <a:p>
            <a:r>
              <a:rPr lang="en-US" sz="2400" b="1" dirty="0"/>
              <a:t>[5] </a:t>
            </a:r>
            <a:r>
              <a:rPr lang="en-US" sz="2400" dirty="0"/>
              <a:t>O. </a:t>
            </a:r>
            <a:r>
              <a:rPr lang="en-US" sz="2400" dirty="0" err="1"/>
              <a:t>Mazari</a:t>
            </a:r>
            <a:r>
              <a:rPr lang="en-US" sz="2400" dirty="0"/>
              <a:t> </a:t>
            </a:r>
            <a:r>
              <a:rPr lang="en-US" sz="2400" dirty="0" err="1"/>
              <a:t>Abdessameud</a:t>
            </a:r>
            <a:r>
              <a:rPr lang="en-US" sz="2400" dirty="0"/>
              <a:t> &amp; W. </a:t>
            </a:r>
            <a:r>
              <a:rPr lang="en-US" sz="2400" dirty="0" err="1"/>
              <a:t>Cherifi</a:t>
            </a:r>
            <a:r>
              <a:rPr lang="en-US" sz="2400" dirty="0"/>
              <a:t>, "Federated road surface anomaly detection," </a:t>
            </a:r>
            <a:r>
              <a:rPr lang="en-US" sz="2400" i="1" dirty="0"/>
              <a:t>DATA Conf.</a:t>
            </a:r>
            <a:r>
              <a:rPr lang="en-US" sz="2400" dirty="0"/>
              <a:t>, 2024. (LSTM + federated learning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23</a:t>
            </a:fld>
            <a:endParaRPr lang="en-US"/>
          </a:p>
        </p:txBody>
      </p:sp>
      <p:sp>
        <p:nvSpPr>
          <p:cNvPr id="1048814" name="TextBox 7"/>
          <p:cNvSpPr txBox="1"/>
          <p:nvPr/>
        </p:nvSpPr>
        <p:spPr>
          <a:xfrm>
            <a:off x="2519395" y="2281000"/>
            <a:ext cx="7598044" cy="180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/>
              <a:t>Thank You!</a:t>
            </a:r>
            <a:endParaRPr lang="en-US" sz="2000" dirty="0"/>
          </a:p>
        </p:txBody>
      </p:sp>
      <p:sp>
        <p:nvSpPr>
          <p:cNvPr id="1048815" name="Date Placeholder 6"/>
          <p:cNvSpPr>
            <a:spLocks noGrp="1"/>
          </p:cNvSpPr>
          <p:nvPr>
            <p:ph type="dt" sz="half" idx="10"/>
          </p:nvPr>
        </p:nvSpPr>
        <p:spPr>
          <a:xfrm>
            <a:off x="29302" y="6445037"/>
            <a:ext cx="3319030" cy="365125"/>
          </a:xfrm>
        </p:spPr>
        <p:txBody>
          <a:bodyPr/>
          <a:lstStyle/>
          <a:p>
            <a:r>
              <a:rPr lang="en-PK" sz="1400"/>
              <a:t>Department of Software Engineering</a:t>
            </a:r>
            <a:endParaRPr lang="en-US" sz="1400" dirty="0"/>
          </a:p>
        </p:txBody>
      </p:sp>
      <p:sp>
        <p:nvSpPr>
          <p:cNvPr id="10488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052175" cy="365125"/>
          </a:xfrm>
        </p:spPr>
        <p:txBody>
          <a:bodyPr/>
          <a:lstStyle/>
          <a:p>
            <a:r>
              <a:rPr lang="en-US" sz="1100" dirty="0" err="1"/>
              <a:t>RoadSense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FDC402"/>
      </a:accent1>
      <a:accent2>
        <a:srgbClr val="1C0054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1259</Words>
  <Application>Microsoft Office PowerPoint</Application>
  <PresentationFormat>Widescreen</PresentationFormat>
  <Paragraphs>262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Trebuchet MS</vt:lpstr>
      <vt:lpstr>Retrospect</vt:lpstr>
      <vt:lpstr>RoadSense</vt:lpstr>
      <vt:lpstr>Outline</vt:lpstr>
      <vt:lpstr>Introduction</vt:lpstr>
      <vt:lpstr>Problem Statement</vt:lpstr>
      <vt:lpstr>Problem Statement</vt:lpstr>
      <vt:lpstr>Objectives</vt:lpstr>
      <vt:lpstr>Objectives</vt:lpstr>
      <vt:lpstr>Literature Review</vt:lpstr>
      <vt:lpstr>Literature Review</vt:lpstr>
      <vt:lpstr>Literature Review</vt:lpstr>
      <vt:lpstr>Literature Review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Results</vt:lpstr>
      <vt:lpstr>Project Workload</vt:lpstr>
      <vt:lpstr>Gantt Chart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Format</dc:title>
  <dc:creator>Bilal Khan</dc:creator>
  <cp:lastModifiedBy>Abdul Ahad</cp:lastModifiedBy>
  <cp:revision>39</cp:revision>
  <dcterms:created xsi:type="dcterms:W3CDTF">2018-10-16T21:21:18Z</dcterms:created>
  <dcterms:modified xsi:type="dcterms:W3CDTF">2025-12-14T18:17:35Z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834ce75541bd414f91cfe8ba23255314</vt:lpwstr>
  </property>
</Properties>
</file>