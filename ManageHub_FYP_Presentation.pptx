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7"/>
  </p:notesMasterIdLst>
  <p:sldIdLst>
    <p:sldId id="256" r:id="rId2"/>
    <p:sldId id="465" r:id="rId3"/>
    <p:sldId id="557" r:id="rId4"/>
    <p:sldId id="561" r:id="rId5"/>
    <p:sldId id="562" r:id="rId6"/>
    <p:sldId id="486" r:id="rId7"/>
    <p:sldId id="489" r:id="rId8"/>
    <p:sldId id="558" r:id="rId9"/>
    <p:sldId id="485" r:id="rId10"/>
    <p:sldId id="563" r:id="rId11"/>
    <p:sldId id="565" r:id="rId12"/>
    <p:sldId id="566" r:id="rId13"/>
    <p:sldId id="567" r:id="rId14"/>
    <p:sldId id="568" r:id="rId15"/>
    <p:sldId id="569" r:id="rId16"/>
    <p:sldId id="570" r:id="rId17"/>
    <p:sldId id="571" r:id="rId18"/>
    <p:sldId id="572" r:id="rId19"/>
    <p:sldId id="573" r:id="rId20"/>
    <p:sldId id="574" r:id="rId21"/>
    <p:sldId id="575" r:id="rId22"/>
    <p:sldId id="576" r:id="rId23"/>
    <p:sldId id="577" r:id="rId24"/>
    <p:sldId id="578" r:id="rId25"/>
    <p:sldId id="579" r:id="rId26"/>
    <p:sldId id="580" r:id="rId27"/>
    <p:sldId id="581" r:id="rId28"/>
    <p:sldId id="582" r:id="rId29"/>
    <p:sldId id="583" r:id="rId30"/>
    <p:sldId id="584" r:id="rId31"/>
    <p:sldId id="585" r:id="rId32"/>
    <p:sldId id="586" r:id="rId33"/>
    <p:sldId id="587" r:id="rId34"/>
    <p:sldId id="588" r:id="rId35"/>
    <p:sldId id="589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6B04"/>
    <a:srgbClr val="FDC402"/>
    <a:srgbClr val="006699"/>
    <a:srgbClr val="1D1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93" autoAdjust="0"/>
    <p:restoredTop sz="90721" autoAdjust="0"/>
  </p:normalViewPr>
  <p:slideViewPr>
    <p:cSldViewPr snapToGrid="0" snapToObjects="1">
      <p:cViewPr varScale="1">
        <p:scale>
          <a:sx n="75" d="100"/>
          <a:sy n="75" d="100"/>
        </p:scale>
        <p:origin x="102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IN NADEEM" userId="ceb880b8-740c-4fd1-b0dd-be901172b03c" providerId="ADAL" clId="{F1F43C4F-AFEA-0245-A5D3-9608FCB5301A}"/>
    <pc:docChg chg="undo custSel modSld">
      <pc:chgData name="ZAIN NADEEM" userId="ceb880b8-740c-4fd1-b0dd-be901172b03c" providerId="ADAL" clId="{F1F43C4F-AFEA-0245-A5D3-9608FCB5301A}" dt="2023-05-31T06:03:20.243" v="87" actId="20577"/>
      <pc:docMkLst>
        <pc:docMk/>
      </pc:docMkLst>
      <pc:sldChg chg="modSp mod">
        <pc:chgData name="ZAIN NADEEM" userId="ceb880b8-740c-4fd1-b0dd-be901172b03c" providerId="ADAL" clId="{F1F43C4F-AFEA-0245-A5D3-9608FCB5301A}" dt="2023-05-31T05:53:50.333" v="45" actId="20577"/>
        <pc:sldMkLst>
          <pc:docMk/>
          <pc:sldMk cId="484443943" sldId="256"/>
        </pc:sldMkLst>
        <pc:spChg chg="mod">
          <ac:chgData name="ZAIN NADEEM" userId="ceb880b8-740c-4fd1-b0dd-be901172b03c" providerId="ADAL" clId="{F1F43C4F-AFEA-0245-A5D3-9608FCB5301A}" dt="2023-05-31T05:53:04.816" v="21" actId="20577"/>
          <ac:spMkLst>
            <pc:docMk/>
            <pc:sldMk cId="484443943" sldId="256"/>
            <ac:spMk id="7" creationId="{8C138084-92DD-4AD3-8413-99A94E604373}"/>
          </ac:spMkLst>
        </pc:spChg>
        <pc:spChg chg="mod">
          <ac:chgData name="ZAIN NADEEM" userId="ceb880b8-740c-4fd1-b0dd-be901172b03c" providerId="ADAL" clId="{F1F43C4F-AFEA-0245-A5D3-9608FCB5301A}" dt="2023-05-31T05:53:50.333" v="45" actId="20577"/>
          <ac:spMkLst>
            <pc:docMk/>
            <pc:sldMk cId="484443943" sldId="256"/>
            <ac:spMk id="8" creationId="{00000000-0000-0000-0000-000000000000}"/>
          </ac:spMkLst>
        </pc:spChg>
      </pc:sldChg>
      <pc:sldChg chg="modSp mod">
        <pc:chgData name="ZAIN NADEEM" userId="ceb880b8-740c-4fd1-b0dd-be901172b03c" providerId="ADAL" clId="{F1F43C4F-AFEA-0245-A5D3-9608FCB5301A}" dt="2023-05-31T05:55:21.651" v="73" actId="20577"/>
        <pc:sldMkLst>
          <pc:docMk/>
          <pc:sldMk cId="4253950235" sldId="557"/>
        </pc:sldMkLst>
        <pc:spChg chg="mod">
          <ac:chgData name="ZAIN NADEEM" userId="ceb880b8-740c-4fd1-b0dd-be901172b03c" providerId="ADAL" clId="{F1F43C4F-AFEA-0245-A5D3-9608FCB5301A}" dt="2023-05-31T05:55:21.651" v="73" actId="20577"/>
          <ac:spMkLst>
            <pc:docMk/>
            <pc:sldMk cId="4253950235" sldId="557"/>
            <ac:spMk id="8" creationId="{C6227D47-4E87-4280-876B-2A6616D92106}"/>
          </ac:spMkLst>
        </pc:spChg>
      </pc:sldChg>
      <pc:sldChg chg="modSp mod">
        <pc:chgData name="ZAIN NADEEM" userId="ceb880b8-740c-4fd1-b0dd-be901172b03c" providerId="ADAL" clId="{F1F43C4F-AFEA-0245-A5D3-9608FCB5301A}" dt="2023-05-31T06:03:20.243" v="87" actId="20577"/>
        <pc:sldMkLst>
          <pc:docMk/>
          <pc:sldMk cId="996732001" sldId="563"/>
        </pc:sldMkLst>
        <pc:spChg chg="mod">
          <ac:chgData name="ZAIN NADEEM" userId="ceb880b8-740c-4fd1-b0dd-be901172b03c" providerId="ADAL" clId="{F1F43C4F-AFEA-0245-A5D3-9608FCB5301A}" dt="2023-05-31T06:03:20.243" v="87" actId="20577"/>
          <ac:spMkLst>
            <pc:docMk/>
            <pc:sldMk cId="996732001" sldId="563"/>
            <ac:spMk id="8" creationId="{C6227D47-4E87-4280-876B-2A6616D9210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F111B5-6083-FA45-9C70-B7086A1AA1F3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1FF1C3-C203-084A-A0F8-370FB9740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76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Project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Department of Computer Science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Project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2F0BEB2-B4B9-5944-AD6F-2E1360FE7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accent2"/>
          </a:solid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>Department of Computer Science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Project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2F0BEB2-B4B9-5944-AD6F-2E1360FE700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990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8423" y="3088153"/>
            <a:ext cx="11375154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atin typeface="Trebuchet MS" panose="020B0603020202020204" pitchFamily="34" charset="0"/>
                <a:ea typeface="Arial" charset="0"/>
                <a:cs typeface="Arial" charset="0"/>
              </a:rPr>
              <a:t>Project Title</a:t>
            </a:r>
            <a:endParaRPr lang="en-US" sz="4400" dirty="0">
              <a:latin typeface="Trebuchet MS" panose="020B0603020202020204" pitchFamily="34" charset="0"/>
              <a:ea typeface="Arial" charset="0"/>
              <a:cs typeface="Arial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83243" y="4430679"/>
            <a:ext cx="6651688" cy="2029106"/>
          </a:xfrm>
        </p:spPr>
        <p:txBody>
          <a:bodyPr>
            <a:normAutofit/>
          </a:bodyPr>
          <a:lstStyle/>
          <a:p>
            <a:pPr algn="r"/>
            <a:r>
              <a:rPr lang="en-US" sz="2200" spc="0" dirty="0">
                <a:solidFill>
                  <a:srgbClr val="D26B04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STUDENT Name – CMS ID</a:t>
            </a:r>
          </a:p>
          <a:p>
            <a:pPr algn="r"/>
            <a:r>
              <a:rPr lang="en-US" sz="2200" spc="0" dirty="0">
                <a:solidFill>
                  <a:srgbClr val="D26B04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STUDENT Name – CMS ID</a:t>
            </a:r>
          </a:p>
          <a:p>
            <a:pPr algn="r"/>
            <a:r>
              <a:rPr lang="en-US" sz="2200" spc="0" dirty="0">
                <a:solidFill>
                  <a:srgbClr val="D26B04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STUDENT Name – CMS ID</a:t>
            </a:r>
          </a:p>
          <a:p>
            <a:pPr algn="r"/>
            <a:r>
              <a:rPr lang="en-US" sz="2200" spc="0" dirty="0">
                <a:solidFill>
                  <a:srgbClr val="D26B04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STUDENT Name – CMS ID</a:t>
            </a:r>
          </a:p>
          <a:p>
            <a:pPr algn="r"/>
            <a:endParaRPr lang="en-US" sz="2200" spc="0" dirty="0">
              <a:solidFill>
                <a:srgbClr val="D26B04"/>
              </a:solidFill>
              <a:latin typeface="Trebuchet MS" panose="020B0603020202020204" pitchFamily="34" charset="0"/>
              <a:ea typeface="Arial" charset="0"/>
              <a:cs typeface="Arial" charset="0"/>
            </a:endParaRPr>
          </a:p>
          <a:p>
            <a:pPr algn="r"/>
            <a:endParaRPr lang="en-US" sz="2200" spc="0" dirty="0">
              <a:solidFill>
                <a:srgbClr val="D26B04"/>
              </a:solidFill>
              <a:latin typeface="Trebuchet MS" panose="020B0603020202020204" pitchFamily="34" charset="0"/>
              <a:ea typeface="Arial" charset="0"/>
              <a:cs typeface="Arial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138084-92DD-4AD3-8413-99A94E604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Department of Electronic Engineering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6575C-7A5B-42FC-8622-71DD207ED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EF045-6764-41B8-9545-B6DBFA8A0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9182" y="758952"/>
            <a:ext cx="2014596" cy="2014596"/>
          </a:xfrm>
          <a:prstGeom prst="rect">
            <a:avLst/>
          </a:prstGeom>
        </p:spPr>
      </p:pic>
      <p:sp>
        <p:nvSpPr>
          <p:cNvPr id="8" name="Subtitle 2"/>
          <p:cNvSpPr txBox="1">
            <a:spLocks/>
          </p:cNvSpPr>
          <p:nvPr/>
        </p:nvSpPr>
        <p:spPr>
          <a:xfrm>
            <a:off x="1109799" y="4430679"/>
            <a:ext cx="3530295" cy="1926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spc="0" dirty="0">
                <a:solidFill>
                  <a:srgbClr val="006699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SUPERVISOR</a:t>
            </a:r>
          </a:p>
          <a:p>
            <a:pPr algn="ctr"/>
            <a:r>
              <a:rPr lang="en-US" sz="2000" spc="0" dirty="0">
                <a:solidFill>
                  <a:srgbClr val="006699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Name of supervisor</a:t>
            </a:r>
          </a:p>
          <a:p>
            <a:pPr algn="ctr"/>
            <a:r>
              <a:rPr lang="en-US" sz="2000" b="1" spc="0" dirty="0">
                <a:solidFill>
                  <a:srgbClr val="006699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Co-SUPERVISOR</a:t>
            </a:r>
          </a:p>
          <a:p>
            <a:pPr algn="ctr"/>
            <a:r>
              <a:rPr lang="en-US" sz="2000" spc="0" dirty="0">
                <a:solidFill>
                  <a:srgbClr val="006699"/>
                </a:solidFill>
                <a:latin typeface="Trebuchet MS" panose="020B0603020202020204" pitchFamily="34" charset="0"/>
                <a:ea typeface="Arial" charset="0"/>
                <a:cs typeface="Arial" charset="0"/>
              </a:rPr>
              <a:t>Name of co-supervisor</a:t>
            </a:r>
          </a:p>
        </p:txBody>
      </p:sp>
    </p:spTree>
    <p:extLst>
      <p:ext uri="{BB962C8B-B14F-4D97-AF65-F5344CB8AC3E}">
        <p14:creationId xmlns:p14="http://schemas.microsoft.com/office/powerpoint/2010/main" val="484443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pc="-85" dirty="0">
                <a:solidFill>
                  <a:schemeClr val="tx1"/>
                </a:solidFill>
                <a:latin typeface="Trebuchet MS" panose="020B0603020202020204" pitchFamily="34" charset="0"/>
                <a:cs typeface="Cambria"/>
              </a:rPr>
              <a:t>Important Points to Follow </a:t>
            </a:r>
            <a:endParaRPr lang="en-US" dirty="0">
              <a:solidFill>
                <a:schemeClr val="tx1"/>
              </a:solidFill>
              <a:latin typeface="Trebuchet MS" panose="020B0603020202020204" pitchFamily="34" charset="0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72FE5-93DC-42DE-811B-734E5853C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AD1DDB-ECED-4752-B97A-C95C3CF71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Project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55EEB0-F867-4DC5-BC3D-9405FBBF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2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6227D47-4E87-4280-876B-2A6616D92106}"/>
              </a:ext>
            </a:extLst>
          </p:cNvPr>
          <p:cNvSpPr txBox="1">
            <a:spLocks noChangeArrowheads="1"/>
          </p:cNvSpPr>
          <p:nvPr/>
        </p:nvSpPr>
        <p:spPr>
          <a:xfrm>
            <a:off x="1097280" y="1847306"/>
            <a:ext cx="9906000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Total Length of Presentation is restricted to </a:t>
            </a:r>
            <a:r>
              <a:rPr lang="en-US" b="1" dirty="0">
                <a:solidFill>
                  <a:srgbClr val="FF0000"/>
                </a:solidFill>
              </a:rPr>
              <a:t>25 slides</a:t>
            </a:r>
            <a:r>
              <a:rPr lang="en-US" dirty="0">
                <a:solidFill>
                  <a:schemeClr val="tx1"/>
                </a:solidFill>
              </a:rPr>
              <a:t>. Total number of slides should not exceed in any case.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Use the layout and design present in this template.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Use the same headings as described in this presentation. If it is absolutely necessary to use your own, use them as sub-headings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Change the Footer from "Project Topic" to your project title by going to the </a:t>
            </a:r>
            <a:r>
              <a:rPr lang="en-US" b="1" dirty="0">
                <a:solidFill>
                  <a:srgbClr val="FF0000"/>
                </a:solidFill>
              </a:rPr>
              <a:t>Insert </a:t>
            </a:r>
            <a:r>
              <a:rPr lang="en-US" dirty="0">
                <a:solidFill>
                  <a:srgbClr val="FF0000"/>
                </a:solidFill>
              </a:rPr>
              <a:t>tab</a:t>
            </a:r>
          </a:p>
          <a:p>
            <a:pPr lvl="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Remove this slide after you’re done making presentation</a:t>
            </a:r>
          </a:p>
          <a:p>
            <a:pPr lvl="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lvl="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lvl="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558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>
                <a:solidFill>
                  <a:schemeClr val="tx1"/>
                </a:solidFill>
                <a:latin typeface="Trebuchet MS" panose="020B0603020202020204" pitchFamily="34" charset="0"/>
                <a:cs typeface="Times New Roman"/>
              </a:rPr>
              <a:t>Outline</a:t>
            </a:r>
            <a:endParaRPr lang="en-US" dirty="0">
              <a:solidFill>
                <a:schemeClr val="tx1"/>
              </a:solidFill>
              <a:latin typeface="Trebuchet MS" panose="020B0603020202020204" pitchFamily="34" charset="0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72FE5-93DC-42DE-811B-734E5853C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AD1DDB-ECED-4752-B97A-C95C3CF71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55EEB0-F867-4DC5-BC3D-9405FBBF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3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6227D47-4E87-4280-876B-2A6616D92106}"/>
              </a:ext>
            </a:extLst>
          </p:cNvPr>
          <p:cNvSpPr txBox="1">
            <a:spLocks noChangeArrowheads="1"/>
          </p:cNvSpPr>
          <p:nvPr/>
        </p:nvSpPr>
        <p:spPr>
          <a:xfrm>
            <a:off x="1097280" y="1847306"/>
            <a:ext cx="9906000" cy="4417308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Introduction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Problem Statement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Aims/Objectives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Literature Review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Methodology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Main Features of the Project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Logical Diagrams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Results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User Interfaces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Workload of the Project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Gantt Chart</a:t>
            </a:r>
          </a:p>
        </p:txBody>
      </p:sp>
    </p:spTree>
    <p:extLst>
      <p:ext uri="{BB962C8B-B14F-4D97-AF65-F5344CB8AC3E}">
        <p14:creationId xmlns:p14="http://schemas.microsoft.com/office/powerpoint/2010/main" val="4253950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>
                <a:solidFill>
                  <a:schemeClr val="tx1"/>
                </a:solidFill>
                <a:latin typeface="Trebuchet MS" panose="020B0603020202020204" pitchFamily="34" charset="0"/>
                <a:cs typeface="Times New Roman"/>
              </a:rPr>
              <a:t>Introduction</a:t>
            </a:r>
            <a:endParaRPr lang="en-US" dirty="0">
              <a:solidFill>
                <a:schemeClr val="tx1"/>
              </a:solidFill>
              <a:latin typeface="Trebuchet MS" panose="020B0603020202020204" pitchFamily="34" charset="0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72FE5-93DC-42DE-811B-734E5853C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AD1DDB-ECED-4752-B97A-C95C3CF71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55EEB0-F867-4DC5-BC3D-9405FBBF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4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6227D47-4E87-4280-876B-2A6616D92106}"/>
              </a:ext>
            </a:extLst>
          </p:cNvPr>
          <p:cNvSpPr txBox="1">
            <a:spLocks noChangeArrowheads="1"/>
          </p:cNvSpPr>
          <p:nvPr/>
        </p:nvSpPr>
        <p:spPr>
          <a:xfrm>
            <a:off x="1097280" y="1847306"/>
            <a:ext cx="9906000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In this slide write about what problem is your project trying to address?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What will be the aims and objectives of your project in addressing the above said problem.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2 Slides Maximum</a:t>
            </a:r>
            <a:endParaRPr 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72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>
                <a:solidFill>
                  <a:schemeClr val="tx1"/>
                </a:solidFill>
                <a:latin typeface="Trebuchet MS" panose="020B0603020202020204" pitchFamily="34" charset="0"/>
                <a:cs typeface="Times New Roman"/>
              </a:rPr>
              <a:t>Literature Review</a:t>
            </a:r>
            <a:endParaRPr lang="en-US" dirty="0">
              <a:solidFill>
                <a:schemeClr val="tx1"/>
              </a:solidFill>
              <a:latin typeface="Trebuchet MS" panose="020B0603020202020204" pitchFamily="34" charset="0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72FE5-93DC-42DE-811B-734E5853C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AD1DDB-ECED-4752-B97A-C95C3CF71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55EEB0-F867-4DC5-BC3D-9405FBBF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5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6227D47-4E87-4280-876B-2A6616D92106}"/>
              </a:ext>
            </a:extLst>
          </p:cNvPr>
          <p:cNvSpPr txBox="1">
            <a:spLocks noChangeArrowheads="1"/>
          </p:cNvSpPr>
          <p:nvPr/>
        </p:nvSpPr>
        <p:spPr>
          <a:xfrm>
            <a:off x="1097280" y="1847306"/>
            <a:ext cx="9906000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 Discuss all the existing work that has been performed similar to your project.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 You can add points that are similar to your project or any points that you some other project didn’t do but you’re enhancing it etc. in this section.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 2 Slides Maximum</a:t>
            </a:r>
            <a:endParaRPr lang="en-US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776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95" dirty="0">
                <a:solidFill>
                  <a:schemeClr val="tx1"/>
                </a:solidFill>
                <a:latin typeface="Trebuchet MS" panose="020B0603020202020204" pitchFamily="34" charset="0"/>
                <a:cs typeface="Arial"/>
              </a:rPr>
              <a:t>Methodology</a:t>
            </a:r>
            <a:endParaRPr lang="en-US" dirty="0">
              <a:solidFill>
                <a:schemeClr val="tx1"/>
              </a:solidFill>
              <a:latin typeface="Trebuchet MS" panose="020B0603020202020204" pitchFamily="34" charset="0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72FE5-93DC-42DE-811B-734E5853C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AD1DDB-ECED-4752-B97A-C95C3CF71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55EEB0-F867-4DC5-BC3D-9405FBBF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6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6227D47-4E87-4280-876B-2A6616D92106}"/>
              </a:ext>
            </a:extLst>
          </p:cNvPr>
          <p:cNvSpPr txBox="1">
            <a:spLocks noChangeArrowheads="1"/>
          </p:cNvSpPr>
          <p:nvPr/>
        </p:nvSpPr>
        <p:spPr>
          <a:xfrm>
            <a:off x="1097280" y="1847306"/>
            <a:ext cx="9906000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 What will be the main features of this project?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 Add all the logical diagrams of your project that include: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Use Case Diagrams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Activity Diagrams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Context Level DFD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Sequence Diagrams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Entity Relationship Diagrams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 12</a:t>
            </a:r>
            <a:r>
              <a:rPr lang="en-US" dirty="0">
                <a:solidFill>
                  <a:schemeClr val="tx1"/>
                </a:solidFill>
              </a:rPr>
              <a:t> Slides Maximum</a:t>
            </a:r>
            <a:endParaRPr lang="en-US" sz="3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518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70" dirty="0">
                <a:solidFill>
                  <a:schemeClr val="tx1"/>
                </a:solidFill>
                <a:latin typeface="Trebuchet MS" panose="020B0603020202020204" pitchFamily="34" charset="0"/>
                <a:cs typeface="Cambria"/>
              </a:rPr>
              <a:t>Results</a:t>
            </a:r>
            <a:endParaRPr lang="en-US" dirty="0">
              <a:solidFill>
                <a:schemeClr val="tx1"/>
              </a:solidFill>
              <a:latin typeface="Trebuchet MS" panose="020B0603020202020204" pitchFamily="34" charset="0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72FE5-93DC-42DE-811B-734E5853C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AD1DDB-ECED-4752-B97A-C95C3CF71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55EEB0-F867-4DC5-BC3D-9405FBBF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7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6227D47-4E87-4280-876B-2A6616D92106}"/>
              </a:ext>
            </a:extLst>
          </p:cNvPr>
          <p:cNvSpPr txBox="1">
            <a:spLocks noChangeArrowheads="1"/>
          </p:cNvSpPr>
          <p:nvPr/>
        </p:nvSpPr>
        <p:spPr>
          <a:xfrm>
            <a:off x="1097280" y="1847306"/>
            <a:ext cx="9906000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 Add screenshots all the interfaces that you have created for your project.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 5</a:t>
            </a:r>
            <a:r>
              <a:rPr lang="en-US" dirty="0">
                <a:solidFill>
                  <a:schemeClr val="tx1"/>
                </a:solidFill>
              </a:rPr>
              <a:t> Slides Maximum</a:t>
            </a:r>
            <a:endParaRPr lang="en-US" sz="3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080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80" dirty="0">
                <a:solidFill>
                  <a:schemeClr val="tx1"/>
                </a:solidFill>
                <a:latin typeface="Trebuchet MS" panose="020B0603020202020204" pitchFamily="34" charset="0"/>
                <a:cs typeface="Cambria"/>
              </a:rPr>
              <a:t>Workload of the Project</a:t>
            </a:r>
            <a:endParaRPr lang="en-US" dirty="0">
              <a:solidFill>
                <a:schemeClr val="tx1"/>
              </a:solidFill>
              <a:latin typeface="Trebuchet MS" panose="020B0603020202020204" pitchFamily="34" charset="0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72FE5-93DC-42DE-811B-734E5853C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AD1DDB-ECED-4752-B97A-C95C3CF71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55EEB0-F867-4DC5-BC3D-9405FBBF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8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6227D47-4E87-4280-876B-2A6616D92106}"/>
              </a:ext>
            </a:extLst>
          </p:cNvPr>
          <p:cNvSpPr txBox="1">
            <a:spLocks noChangeArrowheads="1"/>
          </p:cNvSpPr>
          <p:nvPr/>
        </p:nvSpPr>
        <p:spPr>
          <a:xfrm>
            <a:off x="1097280" y="1847306"/>
            <a:ext cx="9906000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 Provide details of workload of project divided among the group members.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 1 Slide Maximum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111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70" dirty="0">
                <a:solidFill>
                  <a:schemeClr val="tx1"/>
                </a:solidFill>
                <a:latin typeface="Trebuchet MS" panose="020B0603020202020204" pitchFamily="34" charset="0"/>
                <a:cs typeface="Cambria"/>
              </a:rPr>
              <a:t>Gantt Chart</a:t>
            </a:r>
            <a:endParaRPr lang="en-US" dirty="0">
              <a:solidFill>
                <a:schemeClr val="tx1"/>
              </a:solidFill>
              <a:latin typeface="Trebuchet MS" panose="020B0603020202020204" pitchFamily="34" charset="0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72FE5-93DC-42DE-811B-734E5853C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AD1DDB-ECED-4752-B97A-C95C3CF71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55EEB0-F867-4DC5-BC3D-9405FBBF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9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6227D47-4E87-4280-876B-2A6616D92106}"/>
              </a:ext>
            </a:extLst>
          </p:cNvPr>
          <p:cNvSpPr txBox="1">
            <a:spLocks noChangeArrowheads="1"/>
          </p:cNvSpPr>
          <p:nvPr/>
        </p:nvSpPr>
        <p:spPr>
          <a:xfrm>
            <a:off x="1097280" y="1847306"/>
            <a:ext cx="9875520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 Provide a proper Gantt chart, which will present a timeline of your project depicting starting and completion dates of your project.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1 Slide Maximum</a:t>
            </a:r>
            <a:endParaRPr lang="en-US" sz="3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351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70" dirty="0">
                <a:solidFill>
                  <a:schemeClr val="tx1"/>
                </a:solidFill>
                <a:latin typeface="Trebuchet MS" panose="020B0603020202020204" pitchFamily="34" charset="0"/>
                <a:cs typeface="Cambria"/>
              </a:rPr>
              <a:t>References</a:t>
            </a:r>
            <a:endParaRPr lang="en-US" dirty="0">
              <a:solidFill>
                <a:schemeClr val="tx1"/>
              </a:solidFill>
              <a:latin typeface="Trebuchet MS" panose="020B0603020202020204" pitchFamily="34" charset="0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72FE5-93DC-42DE-811B-734E5853C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Department of Computer Science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AD1DDB-ECED-4752-B97A-C95C3CF71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Thesis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55EEB0-F867-4DC5-BC3D-9405FBBF3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0BEB2-B4B9-5944-AD6F-2E1360FE7002}" type="slidenum">
              <a:rPr lang="en-US" smtClean="0"/>
              <a:t>10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6227D47-4E87-4280-876B-2A6616D92106}"/>
              </a:ext>
            </a:extLst>
          </p:cNvPr>
          <p:cNvSpPr txBox="1">
            <a:spLocks noChangeArrowheads="1"/>
          </p:cNvSpPr>
          <p:nvPr/>
        </p:nvSpPr>
        <p:spPr>
          <a:xfrm>
            <a:off x="1097280" y="1847306"/>
            <a:ext cx="9875520" cy="402336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[1] H</a:t>
            </a:r>
            <a:r>
              <a:rPr lang="en-US" altLang="en-US" dirty="0">
                <a:solidFill>
                  <a:schemeClr val="tx1"/>
                </a:solidFill>
              </a:rPr>
              <a:t>. Nadeem et al., “Road Feature Detection for Advance Driver Assistance System Using Deep Learning,” Sensors, vol. 23, no. 9, p. 4466, May 2023, </a:t>
            </a:r>
            <a:r>
              <a:rPr lang="en-US" altLang="en-US" dirty="0" err="1">
                <a:solidFill>
                  <a:schemeClr val="tx1"/>
                </a:solidFill>
              </a:rPr>
              <a:t>doi</a:t>
            </a:r>
            <a:r>
              <a:rPr lang="en-US" altLang="en-US" dirty="0">
                <a:solidFill>
                  <a:schemeClr val="tx1"/>
                </a:solidFill>
              </a:rPr>
              <a:t>: 10.3390/s23094466.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1 Slide Maximum</a:t>
            </a:r>
            <a:endParaRPr lang="en-US" sz="3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732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pc="-5" dirty="0">
                <a:solidFill>
                  <a:schemeClr val="tx1"/>
                </a:solidFill>
                <a:latin typeface="Trebuchet MS" panose="020B0603020202020204" pitchFamily="34" charset="0"/>
                <a:cs typeface="Times New Roman"/>
              </a:rPr>
              <a:t>Outline</a:t>
            </a:r>
            <a:endParaRPr b="1" dirty="0">
              <a:solidFill>
                <a:srgbClr val="002B5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rgbClr val="000000"/>
                </a:solidFill>
              </a:rPr>
              <a:t>Introduction</a:t>
            </a:r>
          </a:p>
          <a:p>
            <a:pPr lvl="1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rgbClr val="000000"/>
                </a:solidFill>
              </a:rPr>
              <a:t>Problem Statement</a:t>
            </a:r>
          </a:p>
          <a:p>
            <a:pPr lvl="1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rgbClr val="000000"/>
                </a:solidFill>
              </a:rPr>
              <a:t>Aims / Objectives</a:t>
            </a:r>
          </a:p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rgbClr val="000000"/>
                </a:solidFill>
              </a:rPr>
              <a:t>Literature Review</a:t>
            </a:r>
          </a:p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rgbClr val="000000"/>
                </a:solidFill>
              </a:rPr>
              <a:t>Methodology</a:t>
            </a:r>
          </a:p>
          <a:p>
            <a:pPr lvl="1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rgbClr val="000000"/>
                </a:solidFill>
              </a:rPr>
              <a:t>Main Features of the Project</a:t>
            </a:r>
          </a:p>
          <a:p>
            <a:pPr lvl="1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rgbClr val="000000"/>
                </a:solidFill>
              </a:rPr>
              <a:t>Logical Diagrams</a:t>
            </a:r>
            <a:endParaRPr lang="en-US" dirty="0">
              <a:solidFill>
                <a:srgbClr val="000000"/>
              </a:solidFill>
            </a:endParaRPr>
          </a:p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Results</a:t>
            </a:r>
          </a:p>
          <a:p>
            <a:pPr lvl="1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rgbClr val="000000"/>
                </a:solidFill>
              </a:rPr>
              <a:t>User Interfaces</a:t>
            </a:r>
          </a:p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rgbClr val="000000"/>
                </a:solidFill>
              </a:rPr>
              <a:t>Workload of the Project</a:t>
            </a:r>
          </a:p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rgbClr val="000000"/>
                </a:solidFill>
              </a:rPr>
              <a:t>Gantt Chart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tx1"/>
                </a:solidFill>
              </a:rPr>
              <a:t>Introduction –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20000"/>
          </a:bodyPr>
          <a:lstStyle/>
          <a:p>
            <a:pPr>
              <a:spcBef>
                <a:spcPts val="1200"/>
              </a:spcBef>
            </a:pPr>
            <a:r>
              <a:rPr sz="2800" b="1" dirty="0">
                <a:solidFill>
                  <a:schemeClr val="tx1"/>
                </a:solidFill>
              </a:rPr>
              <a:t>The Problem</a:t>
            </a:r>
          </a:p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chemeClr val="tx1"/>
                </a:solidFill>
              </a:rPr>
              <a:t>Small and medium retail businesses in Pakistan face significant challenges in managing day-to-day operations such as billing, inventory, employee management, and reporting.</a:t>
            </a:r>
          </a:p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chemeClr val="tx1"/>
                </a:solidFill>
              </a:rPr>
              <a:t>Most existing POS solutions are either too expensive for small retailers or too complex for non-technical shop owners.</a:t>
            </a:r>
          </a:p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chemeClr val="tx1"/>
                </a:solidFill>
              </a:rPr>
              <a:t>Shop owners spend hours manually tracking sales, stock levels, and performance leading to human errors, stock shortages, and revenue loss.</a:t>
            </a:r>
          </a:p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chemeClr val="tx1"/>
                </a:solidFill>
              </a:rPr>
              <a:t>There is no affordable system that combines retail management with AI to provide real-time business insights through natural language conversation.</a:t>
            </a:r>
          </a:p>
          <a:p>
            <a:pPr>
              <a:spcBef>
                <a:spcPts val="400"/>
              </a:spcBef>
            </a:pPr>
            <a:endParaRPr dirty="0">
              <a:solidFill>
                <a:schemeClr val="tx1"/>
              </a:solidFill>
            </a:endParaRPr>
          </a:p>
          <a:p>
            <a:pPr>
              <a:spcBef>
                <a:spcPts val="1200"/>
              </a:spcBef>
            </a:pPr>
            <a:r>
              <a:rPr sz="2800" b="1" dirty="0">
                <a:solidFill>
                  <a:schemeClr val="tx1"/>
                </a:solidFill>
              </a:rPr>
              <a:t>Our Solution: </a:t>
            </a:r>
            <a:r>
              <a:rPr sz="2800" b="1" dirty="0" err="1">
                <a:solidFill>
                  <a:schemeClr val="tx1"/>
                </a:solidFill>
              </a:rPr>
              <a:t>ManageHub</a:t>
            </a:r>
            <a:endParaRPr sz="2800" b="1" dirty="0">
              <a:solidFill>
                <a:schemeClr val="tx1"/>
              </a:solidFill>
            </a:endParaRPr>
          </a:p>
          <a:p>
            <a:pPr>
              <a:spcBef>
                <a:spcPts val="400"/>
              </a:spcBef>
            </a:pPr>
            <a:r>
              <a:rPr dirty="0" err="1">
                <a:solidFill>
                  <a:schemeClr val="tx1"/>
                </a:solidFill>
              </a:rPr>
              <a:t>ManageHub</a:t>
            </a:r>
            <a:r>
              <a:rPr dirty="0">
                <a:solidFill>
                  <a:schemeClr val="tx1"/>
                </a:solidFill>
              </a:rPr>
              <a:t> is a web-based, AI-powered retail shop management system that automates billing, inventory, employee management, and reporting integrated with a conversational AI assistant that allows shop owners to query business data using plain English or Urdu.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tx1"/>
                </a:solidFill>
              </a:rPr>
              <a:t>Introduction – Aims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chemeClr val="tx1"/>
                </a:solidFill>
              </a:rPr>
              <a:t>Develop a comprehensive retail management platform handling products, billing, inventory, customers, suppliers, employees, payroll, and expenses.</a:t>
            </a:r>
          </a:p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chemeClr val="tx1"/>
                </a:solidFill>
              </a:rPr>
              <a:t>Integrate an AI-powered conversational assistant using a multi-agent architecture for natural language interaction with business data.</a:t>
            </a:r>
          </a:p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chemeClr val="tx1"/>
                </a:solidFill>
              </a:rPr>
              <a:t>Support dual-database architecture (MySQL for cloud + SQLite for offline desktop) with automatic synchronization.</a:t>
            </a:r>
          </a:p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chemeClr val="tx1"/>
                </a:solidFill>
              </a:rPr>
              <a:t>Provide AI-driven analytics: sales forecasting, anomaly detection, staff performance analysis, and automated report narration.</a:t>
            </a:r>
          </a:p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chemeClr val="tx1"/>
                </a:solidFill>
              </a:rPr>
              <a:t>Ensure role-based access control (RBAC) with granular permissions for Admin, Shop Owner, Manager, and Cashier roles.</a:t>
            </a:r>
          </a:p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dirty="0">
                <a:solidFill>
                  <a:schemeClr val="tx1"/>
                </a:solidFill>
              </a:rPr>
              <a:t>Enable multi-tenant SaaS architecture with subscription-based pricing via Stripe integration.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tx1"/>
                </a:solidFill>
              </a:rPr>
              <a:t>Literature Review – Existing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sz="1800" b="1" dirty="0">
                <a:solidFill>
                  <a:schemeClr val="tx1"/>
                </a:solidFill>
              </a:rPr>
              <a:t>Existing Systems &amp; Their Limitations</a:t>
            </a:r>
          </a:p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sz="1400" dirty="0">
                <a:solidFill>
                  <a:schemeClr val="tx1"/>
                </a:solidFill>
              </a:rPr>
              <a:t>Lightspeed POS  Cloud-based, multi-location but expensive ($69+/month), no AI, not for Pakistani market.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sz="1800" b="1" dirty="0">
                <a:solidFill>
                  <a:schemeClr val="tx1"/>
                </a:solidFill>
              </a:rPr>
              <a:t>Research Gap Identified</a:t>
            </a:r>
          </a:p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None of the existing systems combine retail POS + AI conversational assistant + offline desktop support + multi-agent intelligence in a single affordable platform for the Pakistani retail market.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9786188-771C-0087-F24B-B93E4EBA4D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097881"/>
              </p:ext>
            </p:extLst>
          </p:nvPr>
        </p:nvGraphicFramePr>
        <p:xfrm>
          <a:off x="2382519" y="3345180"/>
          <a:ext cx="7426961" cy="292608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2523067">
                  <a:extLst>
                    <a:ext uri="{9D8B030D-6E8A-4147-A177-3AD203B41FA5}">
                      <a16:colId xmlns:a16="http://schemas.microsoft.com/office/drawing/2014/main" val="1308549870"/>
                    </a:ext>
                  </a:extLst>
                </a:gridCol>
                <a:gridCol w="2451947">
                  <a:extLst>
                    <a:ext uri="{9D8B030D-6E8A-4147-A177-3AD203B41FA5}">
                      <a16:colId xmlns:a16="http://schemas.microsoft.com/office/drawing/2014/main" val="741982471"/>
                    </a:ext>
                  </a:extLst>
                </a:gridCol>
                <a:gridCol w="2451947">
                  <a:extLst>
                    <a:ext uri="{9D8B030D-6E8A-4147-A177-3AD203B41FA5}">
                      <a16:colId xmlns:a16="http://schemas.microsoft.com/office/drawing/2014/main" val="3994193576"/>
                    </a:ext>
                  </a:extLst>
                </a:gridCol>
              </a:tblGrid>
              <a:tr h="24638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PK" sz="1200" b="0" dirty="0">
                          <a:solidFill>
                            <a:schemeClr val="bg1"/>
                          </a:solidFill>
                          <a:effectLst/>
                        </a:rPr>
                        <a:t>System</a:t>
                      </a:r>
                      <a:endParaRPr lang="en-PK" sz="1200" b="0" i="0" dirty="0">
                        <a:solidFill>
                          <a:schemeClr val="bg1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PK" sz="1200" b="0" dirty="0">
                          <a:solidFill>
                            <a:schemeClr val="bg1"/>
                          </a:solidFill>
                          <a:effectLst/>
                        </a:rPr>
                        <a:t>Strengths</a:t>
                      </a:r>
                      <a:endParaRPr lang="en-PK" sz="1200" b="0" i="0" dirty="0">
                        <a:solidFill>
                          <a:schemeClr val="bg1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PK" sz="1200" b="0" dirty="0">
                          <a:solidFill>
                            <a:schemeClr val="bg1"/>
                          </a:solidFill>
                          <a:effectLst/>
                        </a:rPr>
                        <a:t>Limitations</a:t>
                      </a:r>
                      <a:endParaRPr lang="en-PK" sz="1200" b="0" i="0" dirty="0">
                        <a:solidFill>
                          <a:schemeClr val="bg1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589006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PK" sz="1200" b="1" dirty="0">
                          <a:solidFill>
                            <a:schemeClr val="tx1"/>
                          </a:solidFill>
                          <a:effectLst/>
                        </a:rPr>
                        <a:t>Lightspeed POS</a:t>
                      </a:r>
                      <a:endParaRPr lang="en-PK" sz="1200" b="0" i="0" dirty="0">
                        <a:solidFill>
                          <a:schemeClr val="tx1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PK" sz="1200" b="0">
                          <a:solidFill>
                            <a:schemeClr val="tx1"/>
                          </a:solidFill>
                          <a:effectLst/>
                        </a:rPr>
                        <a:t>Cloud-based, multi-location support</a:t>
                      </a:r>
                      <a:endParaRPr lang="en-PK" sz="1200" b="0" i="0">
                        <a:solidFill>
                          <a:schemeClr val="tx1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PK" sz="1200" b="0">
                          <a:solidFill>
                            <a:schemeClr val="tx1"/>
                          </a:solidFill>
                          <a:effectLst/>
                        </a:rPr>
                        <a:t>Expensive ($69+/month), no AI assistant, not suitable for Pakistani market</a:t>
                      </a:r>
                      <a:endParaRPr lang="en-PK" sz="1200" b="0" i="0">
                        <a:solidFill>
                          <a:schemeClr val="tx1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88535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PK" sz="1200" b="1" dirty="0">
                          <a:solidFill>
                            <a:schemeClr val="tx1"/>
                          </a:solidFill>
                          <a:effectLst/>
                        </a:rPr>
                        <a:t>Shopify POS</a:t>
                      </a:r>
                      <a:endParaRPr lang="en-PK" sz="1200" b="0" i="0" dirty="0">
                        <a:solidFill>
                          <a:schemeClr val="tx1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PK" sz="1200" b="0">
                          <a:solidFill>
                            <a:schemeClr val="tx1"/>
                          </a:solidFill>
                          <a:effectLst/>
                        </a:rPr>
                        <a:t>E-commerce integration, modern UI</a:t>
                      </a:r>
                      <a:endParaRPr lang="en-PK" sz="1200" b="0" i="0">
                        <a:solidFill>
                          <a:schemeClr val="tx1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PK" sz="1200" b="0">
                          <a:solidFill>
                            <a:schemeClr val="tx1"/>
                          </a:solidFill>
                          <a:effectLst/>
                        </a:rPr>
                        <a:t>Focused on e-commerce, limited offline support, no conversational AI</a:t>
                      </a:r>
                      <a:endParaRPr lang="en-PK" sz="1200" b="0" i="0">
                        <a:solidFill>
                          <a:schemeClr val="tx1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577216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PK" sz="1200" b="1">
                          <a:solidFill>
                            <a:schemeClr val="tx1"/>
                          </a:solidFill>
                          <a:effectLst/>
                        </a:rPr>
                        <a:t>Square POS</a:t>
                      </a:r>
                      <a:endParaRPr lang="en-PK" sz="1200" b="0" i="0">
                        <a:solidFill>
                          <a:schemeClr val="tx1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PK" sz="1200" b="0" dirty="0">
                          <a:solidFill>
                            <a:schemeClr val="tx1"/>
                          </a:solidFill>
                          <a:effectLst/>
                        </a:rPr>
                        <a:t>Free basic plan, easy billing</a:t>
                      </a:r>
                      <a:endParaRPr lang="en-PK" sz="1200" b="0" i="0" dirty="0">
                        <a:solidFill>
                          <a:schemeClr val="tx1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PK" sz="1200" b="0">
                          <a:solidFill>
                            <a:schemeClr val="tx1"/>
                          </a:solidFill>
                          <a:effectLst/>
                        </a:rPr>
                        <a:t>No inventory forecasting, no employee payroll, no AI-powered insights</a:t>
                      </a:r>
                      <a:endParaRPr lang="en-PK" sz="1200" b="0" i="0">
                        <a:solidFill>
                          <a:schemeClr val="tx1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511012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PK" sz="1200" b="1">
                          <a:solidFill>
                            <a:schemeClr val="tx1"/>
                          </a:solidFill>
                          <a:effectLst/>
                        </a:rPr>
                        <a:t>ERPNext</a:t>
                      </a:r>
                      <a:endParaRPr lang="en-PK" sz="1200" b="0" i="0">
                        <a:solidFill>
                          <a:schemeClr val="tx1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PK" sz="1200" b="0" dirty="0">
                          <a:solidFill>
                            <a:schemeClr val="tx1"/>
                          </a:solidFill>
                          <a:effectLst/>
                        </a:rPr>
                        <a:t>Open-source, comprehensive ERP</a:t>
                      </a:r>
                      <a:endParaRPr lang="en-PK" sz="1200" b="0" i="0" dirty="0">
                        <a:solidFill>
                          <a:schemeClr val="tx1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PK" sz="1200" b="0" dirty="0">
                          <a:solidFill>
                            <a:schemeClr val="tx1"/>
                          </a:solidFill>
                          <a:effectLst/>
                        </a:rPr>
                        <a:t>Overly complex for small retailers, steep learning curve, no AI chat</a:t>
                      </a:r>
                      <a:endParaRPr lang="en-PK" sz="1200" b="0" i="0" dirty="0">
                        <a:solidFill>
                          <a:schemeClr val="tx1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225507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PK" sz="1200" b="1">
                          <a:solidFill>
                            <a:schemeClr val="tx1"/>
                          </a:solidFill>
                          <a:effectLst/>
                        </a:rPr>
                        <a:t>Oscar POS (Pakistan)</a:t>
                      </a:r>
                      <a:endParaRPr lang="en-PK" sz="1200" b="0" i="0">
                        <a:solidFill>
                          <a:schemeClr val="tx1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PK" sz="1200" b="0" dirty="0">
                          <a:solidFill>
                            <a:schemeClr val="tx1"/>
                          </a:solidFill>
                          <a:effectLst/>
                        </a:rPr>
                        <a:t>Local market support, Urdu UI</a:t>
                      </a:r>
                      <a:endParaRPr lang="en-PK" sz="1200" b="0" i="0" dirty="0">
                        <a:solidFill>
                          <a:schemeClr val="tx1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PK" sz="1200" b="0" dirty="0">
                          <a:solidFill>
                            <a:schemeClr val="tx1"/>
                          </a:solidFill>
                          <a:effectLst/>
                        </a:rPr>
                        <a:t>Limited analytics, no AI integration, no offline desktop mode</a:t>
                      </a:r>
                      <a:endParaRPr lang="en-PK" sz="1200" b="0" i="0" dirty="0">
                        <a:solidFill>
                          <a:schemeClr val="tx1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71969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tx1"/>
                </a:solidFill>
              </a:rPr>
              <a:t>Literature Review – Research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474960" cy="4453466"/>
          </a:xfrm>
        </p:spPr>
        <p:txBody>
          <a:bodyPr wrap="square">
            <a:normAutofit/>
          </a:bodyPr>
          <a:lstStyle/>
          <a:p>
            <a:pPr>
              <a:spcBef>
                <a:spcPts val="1200"/>
              </a:spcBef>
            </a:pPr>
            <a:r>
              <a:rPr sz="2400" b="1" dirty="0">
                <a:solidFill>
                  <a:schemeClr val="tx1"/>
                </a:solidFill>
              </a:rPr>
              <a:t>Multi-Agent AI Systems</a:t>
            </a:r>
          </a:p>
          <a:p>
            <a:pPr>
              <a:spcBef>
                <a:spcPts val="400"/>
              </a:spcBef>
            </a:pPr>
            <a:r>
              <a:rPr sz="1800" dirty="0">
                <a:solidFill>
                  <a:schemeClr val="tx1"/>
                </a:solidFill>
              </a:rPr>
              <a:t>Research on specialized AI agents collaborating to handle different business domains more effectively than a single chatbot. (Park et al., 2023)</a:t>
            </a:r>
          </a:p>
          <a:p>
            <a:pPr>
              <a:spcBef>
                <a:spcPts val="1200"/>
              </a:spcBef>
            </a:pPr>
            <a:r>
              <a:rPr sz="2400" b="1" dirty="0">
                <a:solidFill>
                  <a:schemeClr val="tx1"/>
                </a:solidFill>
              </a:rPr>
              <a:t>LLMs for Business Intelligence</a:t>
            </a:r>
          </a:p>
          <a:p>
            <a:pPr>
              <a:spcBef>
                <a:spcPts val="400"/>
              </a:spcBef>
            </a:pPr>
            <a:r>
              <a:rPr sz="1800" dirty="0">
                <a:solidFill>
                  <a:schemeClr val="tx1"/>
                </a:solidFill>
              </a:rPr>
              <a:t>Studies on using Large Language Models (Llama, GPT) for natural language querying of structured business data. (Rajkumar et al., 2022)</a:t>
            </a:r>
          </a:p>
          <a:p>
            <a:pPr>
              <a:spcBef>
                <a:spcPts val="1200"/>
              </a:spcBef>
            </a:pPr>
            <a:r>
              <a:rPr sz="2400" b="1" dirty="0">
                <a:solidFill>
                  <a:schemeClr val="tx1"/>
                </a:solidFill>
              </a:rPr>
              <a:t>Offline-First Architecture</a:t>
            </a:r>
          </a:p>
          <a:p>
            <a:pPr>
              <a:spcBef>
                <a:spcPts val="400"/>
              </a:spcBef>
            </a:pPr>
            <a:r>
              <a:rPr sz="1800" dirty="0">
                <a:solidFill>
                  <a:schemeClr val="tx1"/>
                </a:solidFill>
              </a:rPr>
              <a:t>Research on Electron-based desktop apps with sync engines for unreliable internet environments in developing countries. (Nicola et al., 2021)</a:t>
            </a:r>
          </a:p>
          <a:p>
            <a:pPr>
              <a:spcBef>
                <a:spcPts val="1200"/>
              </a:spcBef>
            </a:pPr>
            <a:r>
              <a:rPr sz="2400" b="1" dirty="0">
                <a:solidFill>
                  <a:schemeClr val="tx1"/>
                </a:solidFill>
              </a:rPr>
              <a:t>Our Enhancement</a:t>
            </a:r>
          </a:p>
          <a:p>
            <a:pPr>
              <a:spcBef>
                <a:spcPts val="400"/>
              </a:spcBef>
            </a:pPr>
            <a:r>
              <a:rPr sz="1800" dirty="0" err="1">
                <a:solidFill>
                  <a:schemeClr val="tx1"/>
                </a:solidFill>
              </a:rPr>
              <a:t>ManageHub</a:t>
            </a:r>
            <a:r>
              <a:rPr sz="1800" dirty="0">
                <a:solidFill>
                  <a:schemeClr val="tx1"/>
                </a:solidFill>
              </a:rPr>
              <a:t> combines all three areas into a single production-ready system: 7 specialized AI agents powered by </a:t>
            </a:r>
            <a:r>
              <a:rPr sz="1800" dirty="0" err="1">
                <a:solidFill>
                  <a:schemeClr val="tx1"/>
                </a:solidFill>
              </a:rPr>
              <a:t>Groq's</a:t>
            </a:r>
            <a:r>
              <a:rPr sz="1800" dirty="0">
                <a:solidFill>
                  <a:schemeClr val="tx1"/>
                </a:solidFill>
              </a:rPr>
              <a:t> Llama 3.3 70B, integrated into a full retail management platform with offline sync.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tx1"/>
                </a:solidFill>
              </a:rPr>
              <a:t>Methodology –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393680" cy="4443306"/>
          </a:xfrm>
        </p:spPr>
        <p:txBody>
          <a:bodyPr wrap="square"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sz="2400" b="1" dirty="0">
                <a:solidFill>
                  <a:schemeClr val="tx1"/>
                </a:solidFill>
              </a:rPr>
              <a:t>Three-Tier Microservice Architecture</a:t>
            </a:r>
          </a:p>
          <a:p>
            <a:pPr>
              <a:spcBef>
                <a:spcPts val="1200"/>
              </a:spcBef>
            </a:pPr>
            <a:r>
              <a:rPr sz="2400" b="1" dirty="0">
                <a:solidFill>
                  <a:schemeClr val="tx1"/>
                </a:solidFill>
              </a:rPr>
              <a:t>1. Client Tier (Frontend)</a:t>
            </a:r>
          </a:p>
          <a:p>
            <a:pPr lvl="1">
              <a:spcBef>
                <a:spcPts val="200"/>
              </a:spcBef>
            </a:pPr>
            <a:r>
              <a:rPr b="0" dirty="0">
                <a:solidFill>
                  <a:schemeClr val="tx1"/>
                </a:solidFill>
              </a:rPr>
              <a:t>Server-side rendered EJS templates with vanilla JavaScript</a:t>
            </a:r>
          </a:p>
          <a:p>
            <a:pPr lvl="1">
              <a:spcBef>
                <a:spcPts val="200"/>
              </a:spcBef>
            </a:pPr>
            <a:r>
              <a:rPr b="0" dirty="0">
                <a:solidFill>
                  <a:schemeClr val="tx1"/>
                </a:solidFill>
              </a:rPr>
              <a:t>AI Chat Widget for natural language interaction</a:t>
            </a:r>
          </a:p>
          <a:p>
            <a:pPr lvl="1">
              <a:spcBef>
                <a:spcPts val="200"/>
              </a:spcBef>
            </a:pPr>
            <a:r>
              <a:rPr b="0" dirty="0">
                <a:solidFill>
                  <a:schemeClr val="tx1"/>
                </a:solidFill>
              </a:rPr>
              <a:t>Chart.js for sales analytics visualization</a:t>
            </a:r>
          </a:p>
          <a:p>
            <a:pPr>
              <a:spcBef>
                <a:spcPts val="1200"/>
              </a:spcBef>
            </a:pPr>
            <a:r>
              <a:rPr sz="2400" b="1" dirty="0">
                <a:solidFill>
                  <a:schemeClr val="tx1"/>
                </a:solidFill>
              </a:rPr>
              <a:t>2. Application Tier (Backend)</a:t>
            </a:r>
          </a:p>
          <a:p>
            <a:pPr lvl="1">
              <a:spcBef>
                <a:spcPts val="200"/>
              </a:spcBef>
            </a:pPr>
            <a:r>
              <a:rPr b="0" dirty="0">
                <a:solidFill>
                  <a:schemeClr val="tx1"/>
                </a:solidFill>
              </a:rPr>
              <a:t>Node.js / Express.js — Main web server (Port 3000)</a:t>
            </a:r>
          </a:p>
          <a:p>
            <a:pPr lvl="1">
              <a:spcBef>
                <a:spcPts val="200"/>
              </a:spcBef>
            </a:pPr>
            <a:r>
              <a:rPr b="0" dirty="0">
                <a:solidFill>
                  <a:schemeClr val="tx1"/>
                </a:solidFill>
              </a:rPr>
              <a:t>Python / </a:t>
            </a:r>
            <a:r>
              <a:rPr b="0" dirty="0" err="1">
                <a:solidFill>
                  <a:schemeClr val="tx1"/>
                </a:solidFill>
              </a:rPr>
              <a:t>FastAPI</a:t>
            </a:r>
            <a:r>
              <a:rPr b="0" dirty="0">
                <a:solidFill>
                  <a:schemeClr val="tx1"/>
                </a:solidFill>
              </a:rPr>
              <a:t> — AI microservice with 7 agents (Port 8000)</a:t>
            </a:r>
          </a:p>
          <a:p>
            <a:pPr>
              <a:spcBef>
                <a:spcPts val="1200"/>
              </a:spcBef>
            </a:pPr>
            <a:r>
              <a:rPr sz="2400" b="1" dirty="0">
                <a:solidFill>
                  <a:schemeClr val="tx1"/>
                </a:solidFill>
              </a:rPr>
              <a:t>3. Data Tier (Database)</a:t>
            </a:r>
          </a:p>
          <a:p>
            <a:pPr lvl="1">
              <a:spcBef>
                <a:spcPts val="200"/>
              </a:spcBef>
            </a:pPr>
            <a:r>
              <a:rPr b="0" dirty="0">
                <a:solidFill>
                  <a:schemeClr val="tx1"/>
                </a:solidFill>
              </a:rPr>
              <a:t>MySQL — Cloud/production database</a:t>
            </a:r>
          </a:p>
          <a:p>
            <a:pPr lvl="1">
              <a:spcBef>
                <a:spcPts val="200"/>
              </a:spcBef>
            </a:pPr>
            <a:r>
              <a:rPr b="0" dirty="0">
                <a:solidFill>
                  <a:schemeClr val="tx1"/>
                </a:solidFill>
              </a:rPr>
              <a:t>SQLite (sql.js) — Offline desktop via Electron</a:t>
            </a:r>
          </a:p>
          <a:p>
            <a:pPr lvl="1">
              <a:spcBef>
                <a:spcPts val="200"/>
              </a:spcBef>
            </a:pPr>
            <a:r>
              <a:rPr b="0" dirty="0">
                <a:solidFill>
                  <a:schemeClr val="tx1"/>
                </a:solidFill>
              </a:rPr>
              <a:t>Sync Engine — Automatic offline-to-cloud synchronization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tx1"/>
                </a:solidFill>
              </a:rPr>
              <a:t>Methodology –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sz="2800" b="1" dirty="0">
                <a:solidFill>
                  <a:schemeClr val="tx1"/>
                </a:solidFill>
              </a:rPr>
              <a:t>Technologies Used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b="1" dirty="0">
                <a:solidFill>
                  <a:schemeClr val="tx1"/>
                </a:solidFill>
              </a:rPr>
              <a:t>Frontend:</a:t>
            </a:r>
            <a:r>
              <a:rPr dirty="0">
                <a:solidFill>
                  <a:schemeClr val="tx1"/>
                </a:solidFill>
              </a:rPr>
              <a:t> HTML5, CSS3, JavaScript, EJS Templates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b="1" dirty="0">
                <a:solidFill>
                  <a:schemeClr val="tx1"/>
                </a:solidFill>
              </a:rPr>
              <a:t>Backend:</a:t>
            </a:r>
            <a:r>
              <a:rPr dirty="0">
                <a:solidFill>
                  <a:schemeClr val="tx1"/>
                </a:solidFill>
              </a:rPr>
              <a:t> Node.js, Express.js 5.x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b="1" dirty="0">
                <a:solidFill>
                  <a:schemeClr val="tx1"/>
                </a:solidFill>
              </a:rPr>
              <a:t>AI Engine:</a:t>
            </a:r>
            <a:r>
              <a:rPr dirty="0">
                <a:solidFill>
                  <a:schemeClr val="tx1"/>
                </a:solidFill>
              </a:rPr>
              <a:t> Python 3.14, </a:t>
            </a:r>
            <a:r>
              <a:rPr dirty="0" err="1">
                <a:solidFill>
                  <a:schemeClr val="tx1"/>
                </a:solidFill>
              </a:rPr>
              <a:t>FastAPI</a:t>
            </a:r>
            <a:r>
              <a:rPr dirty="0">
                <a:solidFill>
                  <a:schemeClr val="tx1"/>
                </a:solidFill>
              </a:rPr>
              <a:t>, </a:t>
            </a:r>
            <a:r>
              <a:rPr dirty="0" err="1">
                <a:solidFill>
                  <a:schemeClr val="tx1"/>
                </a:solidFill>
              </a:rPr>
              <a:t>Uvicorn</a:t>
            </a:r>
            <a:endParaRPr dirty="0">
              <a:solidFill>
                <a:schemeClr val="tx1"/>
              </a:solidFill>
            </a:endParaRP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b="1" dirty="0">
                <a:solidFill>
                  <a:schemeClr val="tx1"/>
                </a:solidFill>
              </a:rPr>
              <a:t>LLM Provider: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Groq</a:t>
            </a:r>
            <a:r>
              <a:rPr dirty="0">
                <a:solidFill>
                  <a:schemeClr val="tx1"/>
                </a:solidFill>
              </a:rPr>
              <a:t> Cloud (Llama 3.3 70B Versatile)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b="1" dirty="0">
                <a:solidFill>
                  <a:schemeClr val="tx1"/>
                </a:solidFill>
              </a:rPr>
              <a:t>Database:</a:t>
            </a:r>
            <a:r>
              <a:rPr dirty="0">
                <a:solidFill>
                  <a:schemeClr val="tx1"/>
                </a:solidFill>
              </a:rPr>
              <a:t> MySQL 8.0 + SQLite (sql.js)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b="1" dirty="0">
                <a:solidFill>
                  <a:schemeClr val="tx1"/>
                </a:solidFill>
              </a:rPr>
              <a:t>Desktop App:</a:t>
            </a:r>
            <a:r>
              <a:rPr dirty="0">
                <a:solidFill>
                  <a:schemeClr val="tx1"/>
                </a:solidFill>
              </a:rPr>
              <a:t> Electron.js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b="1" dirty="0">
                <a:solidFill>
                  <a:schemeClr val="tx1"/>
                </a:solidFill>
              </a:rPr>
              <a:t>Payments:</a:t>
            </a:r>
            <a:r>
              <a:rPr dirty="0">
                <a:solidFill>
                  <a:schemeClr val="tx1"/>
                </a:solidFill>
              </a:rPr>
              <a:t> Stripe API (SaaS subscription billing)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b="1" dirty="0">
                <a:solidFill>
                  <a:schemeClr val="tx1"/>
                </a:solidFill>
              </a:rPr>
              <a:t>Email: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Nodemailer</a:t>
            </a:r>
            <a:r>
              <a:rPr dirty="0">
                <a:solidFill>
                  <a:schemeClr val="tx1"/>
                </a:solidFill>
              </a:rPr>
              <a:t> + Gmail SMTP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b="1" dirty="0">
                <a:solidFill>
                  <a:schemeClr val="tx1"/>
                </a:solidFill>
              </a:rPr>
              <a:t>Charts:</a:t>
            </a:r>
            <a:r>
              <a:rPr dirty="0">
                <a:solidFill>
                  <a:schemeClr val="tx1"/>
                </a:solidFill>
              </a:rPr>
              <a:t> Chart.js (Sales &amp; analytics visualization)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b="1" dirty="0">
                <a:solidFill>
                  <a:schemeClr val="tx1"/>
                </a:solidFill>
              </a:rPr>
              <a:t>Reports: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PDFKit</a:t>
            </a:r>
            <a:r>
              <a:rPr dirty="0">
                <a:solidFill>
                  <a:schemeClr val="tx1"/>
                </a:solidFill>
              </a:rPr>
              <a:t> + </a:t>
            </a:r>
            <a:r>
              <a:rPr dirty="0" err="1">
                <a:solidFill>
                  <a:schemeClr val="tx1"/>
                </a:solidFill>
              </a:rPr>
              <a:t>ExcelJS</a:t>
            </a:r>
            <a:r>
              <a:rPr dirty="0">
                <a:solidFill>
                  <a:schemeClr val="tx1"/>
                </a:solidFill>
              </a:rPr>
              <a:t> (PDF/Excel export)</a:t>
            </a:r>
          </a:p>
          <a:p>
            <a:pPr marL="457200" indent="-457200">
              <a:spcBef>
                <a:spcPts val="400"/>
              </a:spcBef>
              <a:buFont typeface="+mj-lt"/>
              <a:buAutoNum type="arabicPeriod"/>
            </a:pPr>
            <a:r>
              <a:rPr b="1" dirty="0">
                <a:solidFill>
                  <a:schemeClr val="tx1"/>
                </a:solidFill>
              </a:rPr>
              <a:t>Version Control:</a:t>
            </a:r>
            <a:r>
              <a:rPr dirty="0">
                <a:solidFill>
                  <a:schemeClr val="tx1"/>
                </a:solidFill>
              </a:rPr>
              <a:t> Git + GitHub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tx1"/>
                </a:solidFill>
              </a:rPr>
              <a:t>Methodology – AI Multi-Agent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sz="2400" b="1" dirty="0">
                <a:solidFill>
                  <a:schemeClr val="tx1"/>
                </a:solidFill>
              </a:rPr>
              <a:t>7 Specialized AI Agents</a:t>
            </a:r>
          </a:p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sz="1800" dirty="0">
                <a:solidFill>
                  <a:schemeClr val="tx1"/>
                </a:solidFill>
              </a:rPr>
              <a:t>Retail Assistant Agent — General sales &amp; inventory queries</a:t>
            </a:r>
          </a:p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sz="1800" dirty="0">
                <a:solidFill>
                  <a:schemeClr val="tx1"/>
                </a:solidFill>
              </a:rPr>
              <a:t>Billing Agent — Voice/text-based billing &amp; checkout</a:t>
            </a:r>
          </a:p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sz="1800" dirty="0">
                <a:solidFill>
                  <a:schemeClr val="tx1"/>
                </a:solidFill>
              </a:rPr>
              <a:t>Stock Ordering Agent — Inventory reorder suggestions</a:t>
            </a:r>
          </a:p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sz="1800" dirty="0">
                <a:solidFill>
                  <a:schemeClr val="tx1"/>
                </a:solidFill>
              </a:rPr>
              <a:t>Forecast Agent — Sales trend prediction &amp; demand forecasting</a:t>
            </a:r>
          </a:p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sz="1800" dirty="0">
                <a:solidFill>
                  <a:schemeClr val="tx1"/>
                </a:solidFill>
              </a:rPr>
              <a:t>Anomaly Agent — Fraud detection &amp; unusual pattern analysis</a:t>
            </a:r>
          </a:p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sz="1800" dirty="0">
                <a:solidFill>
                  <a:schemeClr val="tx1"/>
                </a:solidFill>
              </a:rPr>
              <a:t>Staff Agent — Employee performance analysis &amp; revenue tracking</a:t>
            </a:r>
          </a:p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sz="1800" dirty="0">
                <a:solidFill>
                  <a:schemeClr val="tx1"/>
                </a:solidFill>
              </a:rPr>
              <a:t>Report Agent — Executive report narration &amp; summaries</a:t>
            </a:r>
          </a:p>
          <a:p>
            <a:pPr>
              <a:spcBef>
                <a:spcPts val="1200"/>
              </a:spcBef>
            </a:pPr>
            <a:r>
              <a:rPr sz="2400" b="1" dirty="0">
                <a:solidFill>
                  <a:schemeClr val="tx1"/>
                </a:solidFill>
              </a:rPr>
              <a:t>Agent Execution Cycle (6 Steps)</a:t>
            </a:r>
          </a:p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sz="1800" dirty="0">
                <a:solidFill>
                  <a:schemeClr val="tx1"/>
                </a:solidFill>
              </a:rPr>
              <a:t>Perceive → Reason → Plan → Act → Reflect → Explain</a:t>
            </a:r>
          </a:p>
          <a:p>
            <a:pPr>
              <a:spcBef>
                <a:spcPts val="1200"/>
              </a:spcBef>
            </a:pPr>
            <a:r>
              <a:rPr sz="2400" b="1" dirty="0">
                <a:solidFill>
                  <a:schemeClr val="tx1"/>
                </a:solidFill>
              </a:rPr>
              <a:t>LLM-Powered Intent Classification</a:t>
            </a:r>
          </a:p>
          <a:p>
            <a:pPr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sz="1800" dirty="0">
                <a:solidFill>
                  <a:schemeClr val="tx1"/>
                </a:solidFill>
              </a:rPr>
              <a:t>Agent Router uses keyword matching + </a:t>
            </a:r>
            <a:r>
              <a:rPr sz="1800" dirty="0" err="1">
                <a:solidFill>
                  <a:schemeClr val="tx1"/>
                </a:solidFill>
              </a:rPr>
              <a:t>Groq</a:t>
            </a:r>
            <a:r>
              <a:rPr sz="1800" dirty="0">
                <a:solidFill>
                  <a:schemeClr val="tx1"/>
                </a:solidFill>
              </a:rPr>
              <a:t> LLM fallback to classify user intent and route to the correct agent.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tx1"/>
                </a:solidFill>
              </a:rPr>
              <a:t>Methodology – AI Query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 wrap="square">
            <a:normAutofit/>
          </a:bodyPr>
          <a:lstStyle/>
          <a:p>
            <a:pPr>
              <a:spcBef>
                <a:spcPts val="1200"/>
              </a:spcBef>
            </a:pPr>
            <a:r>
              <a:rPr sz="2400" b="1" dirty="0">
                <a:solidFill>
                  <a:schemeClr val="tx1"/>
                </a:solidFill>
              </a:rPr>
              <a:t>How a User Query is Processed</a:t>
            </a:r>
          </a:p>
          <a:p>
            <a:pPr>
              <a:spcBef>
                <a:spcPts val="400"/>
              </a:spcBef>
            </a:pPr>
            <a:r>
              <a:rPr sz="1800" dirty="0">
                <a:solidFill>
                  <a:schemeClr val="tx1"/>
                </a:solidFill>
              </a:rPr>
              <a:t>1. User types a question in the AI Chat Widget</a:t>
            </a:r>
          </a:p>
          <a:p>
            <a:pPr>
              <a:spcBef>
                <a:spcPts val="400"/>
              </a:spcBef>
            </a:pPr>
            <a:r>
              <a:rPr sz="1800" dirty="0">
                <a:solidFill>
                  <a:schemeClr val="tx1"/>
                </a:solidFill>
              </a:rPr>
              <a:t>2. Frontend sends query to Node.js via POST /</a:t>
            </a:r>
            <a:r>
              <a:rPr sz="1800" dirty="0" err="1">
                <a:solidFill>
                  <a:schemeClr val="tx1"/>
                </a:solidFill>
              </a:rPr>
              <a:t>api</a:t>
            </a:r>
            <a:r>
              <a:rPr sz="1800" dirty="0">
                <a:solidFill>
                  <a:schemeClr val="tx1"/>
                </a:solidFill>
              </a:rPr>
              <a:t>/ai/chat</a:t>
            </a:r>
          </a:p>
          <a:p>
            <a:pPr>
              <a:spcBef>
                <a:spcPts val="400"/>
              </a:spcBef>
            </a:pPr>
            <a:r>
              <a:rPr sz="1800" dirty="0">
                <a:solidFill>
                  <a:schemeClr val="tx1"/>
                </a:solidFill>
              </a:rPr>
              <a:t>3. Node.js acts as secure proxy, attaching secret key</a:t>
            </a:r>
          </a:p>
          <a:p>
            <a:pPr>
              <a:spcBef>
                <a:spcPts val="400"/>
              </a:spcBef>
            </a:pPr>
            <a:r>
              <a:rPr sz="1800" dirty="0">
                <a:solidFill>
                  <a:schemeClr val="tx1"/>
                </a:solidFill>
              </a:rPr>
              <a:t>4. Node.js forwards to Python </a:t>
            </a:r>
            <a:r>
              <a:rPr sz="1800" dirty="0" err="1">
                <a:solidFill>
                  <a:schemeClr val="tx1"/>
                </a:solidFill>
              </a:rPr>
              <a:t>FastAPI</a:t>
            </a:r>
            <a:r>
              <a:rPr sz="1800" dirty="0">
                <a:solidFill>
                  <a:schemeClr val="tx1"/>
                </a:solidFill>
              </a:rPr>
              <a:t> AI Server (Port 8000)</a:t>
            </a:r>
          </a:p>
          <a:p>
            <a:pPr>
              <a:spcBef>
                <a:spcPts val="400"/>
              </a:spcBef>
            </a:pPr>
            <a:r>
              <a:rPr sz="1800" dirty="0">
                <a:solidFill>
                  <a:schemeClr val="tx1"/>
                </a:solidFill>
              </a:rPr>
              <a:t>5. Agent Router classifies intent (keyword match + LLM fallback)</a:t>
            </a:r>
          </a:p>
          <a:p>
            <a:pPr>
              <a:spcBef>
                <a:spcPts val="400"/>
              </a:spcBef>
            </a:pPr>
            <a:r>
              <a:rPr sz="1800" dirty="0">
                <a:solidFill>
                  <a:schemeClr val="tx1"/>
                </a:solidFill>
              </a:rPr>
              <a:t>6. Query is routed to the correct Specialized Agent</a:t>
            </a:r>
          </a:p>
          <a:p>
            <a:pPr>
              <a:spcBef>
                <a:spcPts val="400"/>
              </a:spcBef>
            </a:pPr>
            <a:r>
              <a:rPr sz="1800" dirty="0">
                <a:solidFill>
                  <a:schemeClr val="tx1"/>
                </a:solidFill>
              </a:rPr>
              <a:t>7. Agent executes 6-step cognitive cycle, calling tools to fetch 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spcBef>
                <a:spcPts val="400"/>
              </a:spcBef>
            </a:pPr>
            <a:r>
              <a:rPr sz="1800" dirty="0">
                <a:solidFill>
                  <a:schemeClr val="tx1"/>
                </a:solidFill>
              </a:rPr>
              <a:t>data</a:t>
            </a:r>
          </a:p>
          <a:p>
            <a:pPr>
              <a:spcBef>
                <a:spcPts val="400"/>
              </a:spcBef>
            </a:pPr>
            <a:r>
              <a:rPr sz="1800" dirty="0">
                <a:solidFill>
                  <a:schemeClr val="tx1"/>
                </a:solidFill>
              </a:rPr>
              <a:t>8. Tools call back to Node.js API for database queries</a:t>
            </a:r>
          </a:p>
          <a:p>
            <a:pPr>
              <a:spcBef>
                <a:spcPts val="400"/>
              </a:spcBef>
            </a:pPr>
            <a:r>
              <a:rPr sz="1800" dirty="0">
                <a:solidFill>
                  <a:schemeClr val="tx1"/>
                </a:solidFill>
              </a:rPr>
              <a:t>9. Response flows back and is rendered as formatted Markdown</a:t>
            </a:r>
          </a:p>
          <a:p>
            <a:pPr>
              <a:spcBef>
                <a:spcPts val="400"/>
              </a:spcBef>
            </a:pPr>
            <a:endParaRPr sz="18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83B2B0-55EF-6ACE-1FE2-BF3F3C181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373" y="1987975"/>
            <a:ext cx="4984036" cy="313266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tx1"/>
                </a:solidFill>
              </a:rPr>
              <a:t>Methodology – Use Case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use_case_diagram_17854119791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00000"/>
            <a:ext cx="10058400" cy="380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tx1"/>
                </a:solidFill>
              </a:rPr>
              <a:t>Methodology – Activity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activity_diagram_17854120509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00000"/>
            <a:ext cx="10058400" cy="3800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B5C"/>
                </a:solidFill>
              </a:rPr>
              <a:t>Methodology – Class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class_diagram_17854120014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00000"/>
            <a:ext cx="10058400" cy="3800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B5C"/>
                </a:solidFill>
              </a:rPr>
              <a:t>Methodology – Sequence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sequence_diagram_17854120269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00000"/>
            <a:ext cx="10058400" cy="3800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solidFill>
                  <a:srgbClr val="002B5C"/>
                </a:solidFill>
              </a:rPr>
              <a:t>Methodology – 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</a:pPr>
            <a:r>
              <a:rPr sz="1600" b="1">
                <a:solidFill>
                  <a:srgbClr val="0070C0"/>
                </a:solidFill>
              </a:rPr>
              <a:t>34 Database Tables Organized by Domain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Core &amp; Auth: shops, users, roles, permissions, role_permissions, user_permissions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Products &amp; Inventory: products, inventory, stock_in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Sales &amp; POS: bills, bill_items, customers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Suppliers: suppliers, supplier_transactions, supplier_balance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HR &amp; Payroll: user_salary, user_loan, user_loan_ledger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Expenses &amp; Cash: expenses, cash_register, user_cash_submission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Raw Materials: raw_materials, ingredients, raw_material_stock_movements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SaaS &amp; Admin: subscriptions, payment_transactions, feedback, admin_actions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Sync Engine: sync_queue, sync_metadata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B5C"/>
                </a:solidFill>
              </a:rPr>
              <a:t>Methodology – ER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er_diagram_17854121231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00000"/>
            <a:ext cx="10058400" cy="3800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B5C"/>
                </a:solidFill>
              </a:rPr>
              <a:t>Methodology – Component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component_diagram_17854120731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00000"/>
            <a:ext cx="10058400" cy="3800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B5C"/>
                </a:solidFill>
              </a:rPr>
              <a:t>Methodology – Deployment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deployment_diagram_17854120938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00000"/>
            <a:ext cx="10058400" cy="3800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B5C"/>
                </a:solidFill>
              </a:rPr>
              <a:t>Results – Login, Registration &amp;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</a:pPr>
            <a:r>
              <a:rPr sz="1600" b="1">
                <a:solidFill>
                  <a:srgbClr val="0070C0"/>
                </a:solidFill>
              </a:rPr>
              <a:t>Authentication System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Secure login with session-based authentication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Shop registration with Stripe payment integration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Forgot/Reset password via email OTP</a:t>
            </a:r>
          </a:p>
          <a:p>
            <a:pPr>
              <a:spcBef>
                <a:spcPts val="400"/>
              </a:spcBef>
            </a:pPr>
            <a:endParaRPr sz="1300">
              <a:solidFill>
                <a:srgbClr val="000000"/>
              </a:solidFill>
            </a:endParaRP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0070C0"/>
                </a:solidFill>
              </a:rPr>
              <a:t>Smart Dashboard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Real-time KPIs: Total Products, Employees, Today's Sales, Low Stock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Interactive sales graph (Chart.js) with daily/weekly/monthly views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Recent sales feed and low stock alerts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AI-powered business suggestions</a:t>
            </a:r>
          </a:p>
          <a:p>
            <a:pPr>
              <a:spcBef>
                <a:spcPts val="400"/>
              </a:spcBef>
            </a:pPr>
            <a:endParaRPr sz="1300">
              <a:solidFill>
                <a:srgbClr val="000000"/>
              </a:solidFill>
            </a:endParaRP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[INSERT: Screenshots of Login Page and Dashboard]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B5C"/>
                </a:solidFill>
              </a:rPr>
              <a:t>Results – Product Management &amp; Billing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</a:pPr>
            <a:r>
              <a:rPr sz="1600" b="1">
                <a:solidFill>
                  <a:srgbClr val="0070C0"/>
                </a:solidFill>
              </a:rPr>
              <a:t>Product &amp; Inventory Management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Full CRUD operations with barcode/SKU support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Batch stock-in with supplier tracking and purchase prices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Stock ledger, low stock alerts, and inventory reports</a:t>
            </a:r>
          </a:p>
          <a:p>
            <a:pPr>
              <a:spcBef>
                <a:spcPts val="400"/>
              </a:spcBef>
            </a:pPr>
            <a:endParaRPr sz="1300">
              <a:solidFill>
                <a:srgbClr val="000000"/>
              </a:solidFill>
            </a:endParaRP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0070C0"/>
                </a:solidFill>
              </a:rPr>
              <a:t>Point of Sale (POS)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Create bills, add/remove items, apply discounts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Multiple payment methods (Cash, Card, Credit)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Receipt printing and bill history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AI-powered voice billing through chat</a:t>
            </a:r>
          </a:p>
          <a:p>
            <a:pPr>
              <a:spcBef>
                <a:spcPts val="400"/>
              </a:spcBef>
            </a:pPr>
            <a:endParaRPr sz="1300">
              <a:solidFill>
                <a:srgbClr val="000000"/>
              </a:solidFill>
            </a:endParaRP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[INSERT: Screenshots of Products Page and POS Page]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B5C"/>
                </a:solidFill>
              </a:rPr>
              <a:t>Results – Customer, Supplier &amp; Employee Mgmt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</a:pPr>
            <a:r>
              <a:rPr sz="1600" b="1">
                <a:solidFill>
                  <a:srgbClr val="0070C0"/>
                </a:solidFill>
              </a:rPr>
              <a:t>Customer Management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Customer profiles with purchase history and credit limits</a:t>
            </a:r>
          </a:p>
          <a:p>
            <a:pPr>
              <a:spcBef>
                <a:spcPts val="400"/>
              </a:spcBef>
            </a:pPr>
            <a:endParaRPr sz="1300">
              <a:solidFill>
                <a:srgbClr val="000000"/>
              </a:solidFill>
            </a:endParaRP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0070C0"/>
                </a:solidFill>
              </a:rPr>
              <a:t>Supplier Management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Supplier profiles with debit/credit financial ledger</a:t>
            </a:r>
          </a:p>
          <a:p>
            <a:pPr>
              <a:spcBef>
                <a:spcPts val="400"/>
              </a:spcBef>
            </a:pPr>
            <a:endParaRPr sz="1300">
              <a:solidFill>
                <a:srgbClr val="000000"/>
              </a:solidFill>
            </a:endParaRP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0070C0"/>
                </a:solidFill>
              </a:rPr>
              <a:t>Employee Management &amp; Payroll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Employee CRUD with role-based access control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Salary processing with bonuses and fines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Employee loan management with installment tracking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Cash submission and verification system</a:t>
            </a:r>
          </a:p>
          <a:p>
            <a:pPr>
              <a:spcBef>
                <a:spcPts val="400"/>
              </a:spcBef>
            </a:pPr>
            <a:endParaRPr sz="1300">
              <a:solidFill>
                <a:srgbClr val="000000"/>
              </a:solidFill>
            </a:endParaRP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[INSERT: Screenshots of Customer, Supplier, and Employee pages]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B5C"/>
                </a:solidFill>
              </a:rPr>
              <a:t>Results – AI Conversational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</a:pPr>
            <a:r>
              <a:rPr sz="1600" b="1">
                <a:solidFill>
                  <a:srgbClr val="0070C0"/>
                </a:solidFill>
              </a:rPr>
              <a:t>Natural Language Chat Interface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Users can ask questions like: 'What are today's sales?'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Voice billing: 'Add 2 packets of sugar to the bill'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Staff queries: 'Show me revenue generated by each cashier'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Formatted Markdown responses with bold text, tables, and lists</a:t>
            </a:r>
          </a:p>
          <a:p>
            <a:pPr>
              <a:spcBef>
                <a:spcPts val="400"/>
              </a:spcBef>
            </a:pPr>
            <a:endParaRPr sz="1300">
              <a:solidFill>
                <a:srgbClr val="000000"/>
              </a:solidFill>
            </a:endParaRP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0070C0"/>
                </a:solidFill>
              </a:rPr>
              <a:t>AI-Powered Analytics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Sales forecasting with trend analysis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Anomaly detection for suspicious transactions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Automated executive report narration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Smart stock reorder recommendations</a:t>
            </a:r>
          </a:p>
          <a:p>
            <a:pPr>
              <a:spcBef>
                <a:spcPts val="400"/>
              </a:spcBef>
            </a:pPr>
            <a:endParaRPr sz="1300">
              <a:solidFill>
                <a:srgbClr val="000000"/>
              </a:solidFill>
            </a:endParaRP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[INSERT: Screenshots of AI Chat Widget with sample conversations]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B5C"/>
                </a:solidFill>
              </a:rPr>
              <a:t>Results – Admin Panel &amp;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</a:pPr>
            <a:r>
              <a:rPr sz="1600" b="1">
                <a:solidFill>
                  <a:srgbClr val="0070C0"/>
                </a:solidFill>
              </a:rPr>
              <a:t>Platform Admin Panel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Manage all shops, users, subscription plans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Roles &amp; permissions management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Platform-wide feedback management</a:t>
            </a:r>
          </a:p>
          <a:p>
            <a:pPr>
              <a:spcBef>
                <a:spcPts val="400"/>
              </a:spcBef>
            </a:pPr>
            <a:endParaRPr sz="1300">
              <a:solidFill>
                <a:srgbClr val="000000"/>
              </a:solidFill>
            </a:endParaRP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0070C0"/>
                </a:solidFill>
              </a:rPr>
              <a:t>Comprehensive Reporting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Daily/Weekly sales reports with bill details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Expense reports by category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Supplier payment reports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User sales and product sales reports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Export as PDF and Excel</a:t>
            </a:r>
          </a:p>
          <a:p>
            <a:pPr>
              <a:spcBef>
                <a:spcPts val="400"/>
              </a:spcBef>
            </a:pPr>
            <a:endParaRPr sz="1300">
              <a:solidFill>
                <a:srgbClr val="000000"/>
              </a:solidFill>
            </a:endParaRP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[INSERT: Screenshots of Admin Panel and Reports pages]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B5C"/>
                </a:solidFill>
              </a:rPr>
              <a:t>Workload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200"/>
              </a:spcBef>
            </a:pPr>
            <a:r>
              <a:rPr sz="1600" b="1">
                <a:solidFill>
                  <a:srgbClr val="0070C0"/>
                </a:solidFill>
              </a:rPr>
              <a:t>Team Member Responsibilities</a:t>
            </a:r>
          </a:p>
          <a:p>
            <a:pPr>
              <a:spcBef>
                <a:spcPts val="400"/>
              </a:spcBef>
            </a:pPr>
            <a:endParaRPr sz="1600" b="1">
              <a:solidFill>
                <a:srgbClr val="0070C0"/>
              </a:solidFill>
            </a:endParaRP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0070C0"/>
                </a:solidFill>
              </a:rPr>
              <a:t>[Student 1 Name]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000000"/>
                </a:solidFill>
              </a:rPr>
              <a:t>Dashboard, Product Management, Inventory, Stock Alerts, Shop Settings, Database Design</a:t>
            </a:r>
          </a:p>
          <a:p>
            <a:pPr>
              <a:spcBef>
                <a:spcPts val="400"/>
              </a:spcBef>
            </a:pPr>
            <a:endParaRPr sz="1200" b="0">
              <a:solidFill>
                <a:srgbClr val="000000"/>
              </a:solidFill>
            </a:endParaRP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0070C0"/>
                </a:solidFill>
              </a:rPr>
              <a:t>[Student 2 Name]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000000"/>
                </a:solidFill>
              </a:rPr>
              <a:t>Billing/POS, Customer Management, Supplier Management, Cash Register, Reports &amp; Export</a:t>
            </a:r>
          </a:p>
          <a:p>
            <a:pPr>
              <a:spcBef>
                <a:spcPts val="400"/>
              </a:spcBef>
            </a:pPr>
            <a:endParaRPr sz="1200" b="0">
              <a:solidFill>
                <a:srgbClr val="000000"/>
              </a:solidFill>
            </a:endParaRP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0070C0"/>
                </a:solidFill>
              </a:rPr>
              <a:t>[Student 3 Name]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000000"/>
                </a:solidFill>
              </a:rPr>
              <a:t>AI Multi-Agent Architecture, Agent Router, All 7 AI Agents, Python FastAPI, Groq LLM Integration</a:t>
            </a:r>
          </a:p>
          <a:p>
            <a:pPr>
              <a:spcBef>
                <a:spcPts val="400"/>
              </a:spcBef>
            </a:pPr>
            <a:endParaRPr sz="1200" b="0">
              <a:solidFill>
                <a:srgbClr val="000000"/>
              </a:solidFill>
            </a:endParaRP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0070C0"/>
                </a:solidFill>
              </a:rPr>
              <a:t>[Student 4 Name]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000000"/>
                </a:solidFill>
              </a:rPr>
              <a:t>Authentication, Employee Management, Payroll/Loans, Admin Panel, Stripe, Electron, Offline Sync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B5C"/>
                </a:solidFill>
              </a:rPr>
              <a:t>Gantt Chart – Project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85000" lnSpcReduction="20000"/>
          </a:bodyPr>
          <a:lstStyle/>
          <a:p>
            <a:pPr>
              <a:spcBef>
                <a:spcPts val="1200"/>
              </a:spcBef>
            </a:pPr>
            <a:r>
              <a:rPr sz="1600" b="1">
                <a:solidFill>
                  <a:srgbClr val="0070C0"/>
                </a:solidFill>
              </a:rPr>
              <a:t>Phase 1: Planning (Weeks 1-8)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000000"/>
                </a:solidFill>
              </a:rPr>
              <a:t>Requirements gathering, Literature review, System design</a:t>
            </a:r>
          </a:p>
          <a:p>
            <a:pPr>
              <a:spcBef>
                <a:spcPts val="400"/>
              </a:spcBef>
            </a:pPr>
            <a:endParaRPr sz="1200" b="0">
              <a:solidFill>
                <a:srgbClr val="000000"/>
              </a:solidFill>
            </a:endParaRP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0070C0"/>
                </a:solidFill>
              </a:rPr>
              <a:t>Phase 2: Database &amp; Auth (Weeks 9-12)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000000"/>
                </a:solidFill>
              </a:rPr>
              <a:t>Database schema design, Authentication system, RBAC</a:t>
            </a:r>
          </a:p>
          <a:p>
            <a:pPr>
              <a:spcBef>
                <a:spcPts val="400"/>
              </a:spcBef>
            </a:pPr>
            <a:endParaRPr sz="1200" b="0">
              <a:solidFill>
                <a:srgbClr val="000000"/>
              </a:solidFill>
            </a:endParaRP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0070C0"/>
                </a:solidFill>
              </a:rPr>
              <a:t>Phase 3: Core Modules (Weeks 13-20)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000000"/>
                </a:solidFill>
              </a:rPr>
              <a:t>Products, Billing, Customers, Suppliers, Employees</a:t>
            </a:r>
          </a:p>
          <a:p>
            <a:pPr>
              <a:spcBef>
                <a:spcPts val="400"/>
              </a:spcBef>
            </a:pPr>
            <a:endParaRPr sz="1200" b="0">
              <a:solidFill>
                <a:srgbClr val="000000"/>
              </a:solidFill>
            </a:endParaRP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0070C0"/>
                </a:solidFill>
              </a:rPr>
              <a:t>Phase 4: Advanced Modules (Weeks 21-24)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000000"/>
                </a:solidFill>
              </a:rPr>
              <a:t>Reports, Expenses, Cash Register, Raw Materials, Payroll</a:t>
            </a:r>
          </a:p>
          <a:p>
            <a:pPr>
              <a:spcBef>
                <a:spcPts val="400"/>
              </a:spcBef>
            </a:pPr>
            <a:endParaRPr sz="1200" b="0">
              <a:solidFill>
                <a:srgbClr val="000000"/>
              </a:solidFill>
            </a:endParaRP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0070C0"/>
                </a:solidFill>
              </a:rPr>
              <a:t>Phase 5: AI Integration (Weeks 25-32)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000000"/>
                </a:solidFill>
              </a:rPr>
              <a:t>Python AI microservice, 7 Agents, Agent Router, Tool System</a:t>
            </a:r>
          </a:p>
          <a:p>
            <a:pPr>
              <a:spcBef>
                <a:spcPts val="400"/>
              </a:spcBef>
            </a:pPr>
            <a:endParaRPr sz="1200" b="0">
              <a:solidFill>
                <a:srgbClr val="000000"/>
              </a:solidFill>
            </a:endParaRPr>
          </a:p>
          <a:p>
            <a:pPr>
              <a:spcBef>
                <a:spcPts val="1200"/>
              </a:spcBef>
            </a:pPr>
            <a:r>
              <a:rPr sz="1600" b="1">
                <a:solidFill>
                  <a:srgbClr val="0070C0"/>
                </a:solidFill>
              </a:rPr>
              <a:t>Phase 6: Desktop, SaaS &amp; Testing (Weeks 33-40)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000000"/>
                </a:solidFill>
              </a:rPr>
              <a:t>Electron app, SQLite, Sync, Stripe, Admin Panel, Testing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2B5C"/>
                </a:solidFill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[1] J. S. Park et al., 'Generative Agents: Interactive Simulacra of Human Behavior,' ACM UIST, 2023.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[2] N. Rajkumar et al., 'Evaluating Text-to-SQL Capabilities of LLMs,' arXiv:2204.00498, 2022.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[3] L. Nicola et al., 'Mobile Database Synchronization Strategies,' J. Systems &amp; Software, 2021.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[4] A. Vaswani et al., 'Attention Is All You Need,' NeurIPS, vol. 30, 2017.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[5] Meta AI, 'Llama 3: Open Foundation and Fine-Tuned LLMs,' Meta AI Research, 2024.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[6] S. Yao et al., 'ReAct: Synergizing Reasoning and Acting in LMs,' ICLR, 2023.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[7] Express.js Documentation, https://expressjs.com/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[8] FastAPI Documentation, https://fastapi.tiangolo.com/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[9] Groq API Documentation, https://console.groq.com/docs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</a:rPr>
              <a:t>[10] Electron.js Documentation, https://www.electronjs.org/docs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2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FDC402"/>
      </a:accent1>
      <a:accent2>
        <a:srgbClr val="1C0054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1743</TotalTime>
  <Words>2439</Words>
  <Application>Microsoft Office PowerPoint</Application>
  <PresentationFormat>Widescreen</PresentationFormat>
  <Paragraphs>328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Calibri Light</vt:lpstr>
      <vt:lpstr>Trebuchet MS</vt:lpstr>
      <vt:lpstr>ui-sans-serif</vt:lpstr>
      <vt:lpstr>Retrospect</vt:lpstr>
      <vt:lpstr>Project Title</vt:lpstr>
      <vt:lpstr>Important Points to Follow </vt:lpstr>
      <vt:lpstr>Outline</vt:lpstr>
      <vt:lpstr>Introduction</vt:lpstr>
      <vt:lpstr>Literature Review</vt:lpstr>
      <vt:lpstr>Methodology</vt:lpstr>
      <vt:lpstr>Results</vt:lpstr>
      <vt:lpstr>Workload of the Project</vt:lpstr>
      <vt:lpstr>Gantt Chart</vt:lpstr>
      <vt:lpstr>References</vt:lpstr>
      <vt:lpstr>Outline</vt:lpstr>
      <vt:lpstr>Introduction – Problem Statement</vt:lpstr>
      <vt:lpstr>Introduction – Aims &amp; Objectives</vt:lpstr>
      <vt:lpstr>Literature Review – Existing Solutions</vt:lpstr>
      <vt:lpstr>Literature Review – Research Areas</vt:lpstr>
      <vt:lpstr>Methodology – System Architecture</vt:lpstr>
      <vt:lpstr>Methodology – Technology Stack</vt:lpstr>
      <vt:lpstr>Methodology – AI Multi-Agent Architecture</vt:lpstr>
      <vt:lpstr>Methodology – AI Query Flow</vt:lpstr>
      <vt:lpstr>Methodology – Use Case Diagram</vt:lpstr>
      <vt:lpstr>Methodology – Activity Diagram</vt:lpstr>
      <vt:lpstr>Methodology – Class Diagram</vt:lpstr>
      <vt:lpstr>Methodology – Sequence Diagram</vt:lpstr>
      <vt:lpstr>Methodology – Database Schema</vt:lpstr>
      <vt:lpstr>Methodology – ER Diagram</vt:lpstr>
      <vt:lpstr>Methodology – Component Diagram</vt:lpstr>
      <vt:lpstr>Methodology – Deployment Diagram</vt:lpstr>
      <vt:lpstr>Results – Login, Registration &amp; Dashboard</vt:lpstr>
      <vt:lpstr>Results – Product Management &amp; Billing</vt:lpstr>
      <vt:lpstr>Results – Customer, Supplier &amp; Employee Mgmt</vt:lpstr>
      <vt:lpstr>Results – AI Conversational Assistant</vt:lpstr>
      <vt:lpstr>Results – Admin Panel &amp; Reports</vt:lpstr>
      <vt:lpstr>Workload Distribution</vt:lpstr>
      <vt:lpstr>Gantt Chart – Project Timeline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FYP Format</dc:title>
  <dc:creator>Bilal Khan</dc:creator>
  <cp:lastModifiedBy>MUHAMMAD RAYAN SARFARAZ</cp:lastModifiedBy>
  <cp:revision>401</cp:revision>
  <dcterms:created xsi:type="dcterms:W3CDTF">2018-10-17T07:21:18Z</dcterms:created>
  <dcterms:modified xsi:type="dcterms:W3CDTF">2026-07-30T12:46:22Z</dcterms:modified>
</cp:coreProperties>
</file>